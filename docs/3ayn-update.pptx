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reminder of what this is, then straight into what changed.
3ayn means eye. You point your phone at something and it tells you out loud, in Arabic, what's in front of you.
Most of what I did this month was on the app itself — the way it looks, who it's for, and who's allowed to see through the camera. Plus one new thing running on my laptop.
About eight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of orientation, then the new stuff.
One photo goes up. Bedrock writes the description, Rekognition handles faces, Textract handles text on signs and papers. Polly turns the answer into Arabic speech and it plays.
That whole pipeline was working before this month. What I want to talk about is everything around it — because a working pipeline that a blind person can't actually operate isn't worth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real change. The app now has two skins.
The default one is the light blue you've seen. That's for the guardian — the parent, the sibling, whoever's helping.
The second one is black and yellow. That's for someone with low vision who still has some sight. Yellow on black is about the most readable combination there is.
The important bit isn't that there are two. It's that there's one set of colour variables underneath and you flip one attribute to switch. No duplicated stylesheets, no screen that forgot to get themed.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keep if I could only keep one.
I ran the actual WCAG contrast numbers on every colour instead of trusting my eyes. Two of them failed.
The red — the standard iOS red — came out at 3.55 to 1. That fails as text on white, and it fails with white text on top of it. Both directions. On an accessibility app.
The second one is worse in a way. The border on input boxes in the high-contrast theme was 1.66 to 1. So a low-vision user in the theme built for them literally could not tell where a button ended.
I wrote the ratios into the stylesheet as comments. Next person who changes a colour can see the number it has to beat.
Point being: I couldn't see either of these problems. Measuring found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now asks who you are on first run. Two answers.
If you say blind or low vision, you get the high-contrast theme, bigger touch targets, and the voice-first flow without having to go and find those settings.
If you say guardian, you get the light theme and the screens for asking to see through the wearer's camera.
There's also proper accounts now, through Cognito. That's what links a guardian to a wearer and syncs settings.
But — and I was deliberate about this — sign-in is optional, and 'continue as guest' is on every one of those screens. Read the line at the bottom.
Someone standing in an unfamiliar room who needs to know where the door is should not be typing an email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I'd defend hardest.
The app lets a guardian see through the wearer's camera. That is, obviously, a surveillance feature if you build it carelessly.
So consent is a state machine on the server. Four states. A session starts idle. A guardian asks, it goes to pending, and the wearer gets asked. Then it's approved or denied.
Frame uploads are rejected unless the state is approved. That check runs on every frame, not once at the start — so when the wearer revokes, it stops right then.
And the bit at the bottom. When a session starts, the wearer's own device gets a secret token. Approving requires it. So a guardian who has the link can raise their hand and ask — that's the whole extent of their power. They can't tick 'allow' for someone else.
That was a deliberate choice, not something the framework gave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Faster through this one.
It installs properly now. Manifest, icons, service worker, opens full screen. On iPhone you have to do Share then Add to Home Screen — Apple won't prompt you.
The caching rule is the interesting bit. The service worker will not cache a POST and will not cache the backend host, at all. If the connection is bad I would rather it say nothing than hand someone a description of a room they walked out of five minutes ago. Stale is worse than silent here.
Common Arabic phrases are stored on the device, so offline it still speaks. It'll tell you it's offline — out loud, in Arabic — rather than just showing a message on a screen the user can't read.
Last one's William's. Wake lock so the screen doesn't sleep mid-session, plus live location on a shared session. Merged that into main on the 23rd.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feature, and it's the thing I'm most pleased with.
Two models on the same frame. One says what the object is, the other says how far away it is. Put them together and you can say both.
Two choices worth pointing at. It says steps, not metres — calibrated to the person's own stride, because 'two point three metres' means nothing when you're walking. And clock positions instead of degrees, because 'at two o'clock' is something you can act on immediately.
Read the Arabic if you want, or just the English underneath.
The box at the bottom is the real lesson. Wiring up the models took an afternoon. What took actual work was the logic for when to stay quiet — don't repeat yourself, don't announce every tiny change, don't talk over yourself.
A thing that talks constantly gets turned off. And once it's off it helps nobody.
Caveat: this runs on my laptop. It is not in the app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that went wrong. I'd rather say them than have someone find them.
One. The repo got renamed and the deploy hook kept pointing at the old name. Seven builds failed. Five minutes to fix once I knew, a day to find.
Two. I set a permissions role in the AWS console, it told me it saved, and it hadn't. I only caught it by checking from the command line. Now I verify anything important from the CLI instead of trusting the interface.
Three, and this one's a real gap, not a mistake. The standard object model recognises about eighty everyday things. A door isn't one of them. For an app whose job is helping someone cross an unfamiliar room — chairs you bump into, doors you have to actually find. Needs an open-vocabulary model. It's on the list.
Four. The obvious speech-to-text service charges per minute and this thing would be listening all day. Wrong economics. I dropped it before I built anything on top of it, which I'm counting as a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in order.
One, the tape measure. Everything the distance feature does depends on that number being right, and I haven't checked it against reality yet. So I'm not going to stand here and quote an accuracy figure.
Two, get it off my laptop and into the app.
Three, a model that knows what a door is.
Four, voice input — on-device for the fixed commands, cloud only for open questions, so it doesn't cost a fortune to leave running.
And then the last line, which is the real ask. Every single decision about what this thing says and when I say it is my guess right now. Five minutes with someone who'd actually use it is worth more than a month of me guessing.
That's it.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25"/>
        </a:solidFill>
      </p:bgPr>
    </p:bg>
    <p:spTree>
      <p:nvGrpSpPr>
        <p:cNvPr id="1" name=""/>
        <p:cNvGrpSpPr/>
        <p:nvPr/>
      </p:nvGrpSpPr>
      <p:grpSpPr>
        <a:xfrm>
          <a:off x="0" y="0"/>
          <a:ext cx="0" cy="0"/>
          <a:chOff x="0" y="0"/>
          <a:chExt cx="0" cy="0"/>
        </a:xfrm>
      </p:grpSpPr>
      <p:sp>
        <p:nvSpPr>
          <p:cNvPr id="2" name="Shape 0"/>
          <p:cNvSpPr/>
          <p:nvPr/>
        </p:nvSpPr>
        <p:spPr>
          <a:xfrm>
            <a:off x="822960" y="2212848"/>
            <a:ext cx="1371600" cy="1371600"/>
          </a:xfrm>
          <a:prstGeom prst="ellipse">
            <a:avLst/>
          </a:prstGeom>
          <a:solidFill>
            <a:srgbClr val="FFD400"/>
          </a:solidFill>
          <a:ln/>
        </p:spPr>
      </p:sp>
      <p:sp>
        <p:nvSpPr>
          <p:cNvPr id="3" name="Shape 1"/>
          <p:cNvSpPr/>
          <p:nvPr/>
        </p:nvSpPr>
        <p:spPr>
          <a:xfrm>
            <a:off x="1243584" y="2633472"/>
            <a:ext cx="530352" cy="530352"/>
          </a:xfrm>
          <a:prstGeom prst="ellipse">
            <a:avLst/>
          </a:prstGeom>
          <a:solidFill>
            <a:srgbClr val="0B1725"/>
          </a:solidFill>
          <a:ln/>
        </p:spPr>
      </p:sp>
      <p:sp>
        <p:nvSpPr>
          <p:cNvPr id="4" name="Text 2"/>
          <p:cNvSpPr txBox="1"/>
          <p:nvPr/>
        </p:nvSpPr>
        <p:spPr>
          <a:xfrm>
            <a:off x="2606040" y="2148840"/>
            <a:ext cx="731520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3ayn</a:t>
            </a:r>
            <a:endParaRPr lang="en-US" sz="6000" dirty="0"/>
          </a:p>
        </p:txBody>
      </p:sp>
      <p:sp>
        <p:nvSpPr>
          <p:cNvPr id="5" name="Text 3"/>
          <p:cNvSpPr txBox="1"/>
          <p:nvPr/>
        </p:nvSpPr>
        <p:spPr>
          <a:xfrm>
            <a:off x="2651760" y="3127248"/>
            <a:ext cx="8229600" cy="457200"/>
          </a:xfrm>
          <a:prstGeom prst="rect">
            <a:avLst/>
          </a:prstGeom>
          <a:noFill/>
          <a:ln/>
        </p:spPr>
        <p:txBody>
          <a:bodyPr wrap="square" lIns="0" tIns="0" rIns="0" bIns="0" rtlCol="0" anchor="ctr"/>
          <a:lstStyle/>
          <a:p>
            <a:pPr indent="0" marL="0">
              <a:buNone/>
            </a:pPr>
            <a:r>
              <a:rPr lang="en-US" sz="2100" dirty="0">
                <a:solidFill>
                  <a:srgbClr val="FFD400"/>
                </a:solidFill>
                <a:latin typeface="Arial" pitchFamily="34" charset="0"/>
                <a:ea typeface="Arial" pitchFamily="34" charset="-122"/>
                <a:cs typeface="Arial" pitchFamily="34" charset="-120"/>
              </a:rPr>
              <a:t>Where the project got to this month</a:t>
            </a:r>
            <a:endParaRPr lang="en-US" sz="2100" dirty="0"/>
          </a:p>
        </p:txBody>
      </p:sp>
      <p:sp>
        <p:nvSpPr>
          <p:cNvPr id="6" name="Text 4"/>
          <p:cNvSpPr txBox="1"/>
          <p:nvPr/>
        </p:nvSpPr>
        <p:spPr>
          <a:xfrm>
            <a:off x="2651760" y="3703320"/>
            <a:ext cx="8686800" cy="365760"/>
          </a:xfrm>
          <a:prstGeom prst="rect">
            <a:avLst/>
          </a:prstGeom>
          <a:noFill/>
          <a:ln/>
        </p:spPr>
        <p:txBody>
          <a:bodyPr wrap="square" lIns="0" tIns="0" rIns="0" bIns="0" rtlCol="0" anchor="ctr"/>
          <a:lstStyle/>
          <a:p>
            <a:pPr indent="0" marL="0">
              <a:buNone/>
            </a:pPr>
            <a:r>
              <a:rPr lang="en-US" sz="1300" dirty="0">
                <a:solidFill>
                  <a:srgbClr val="B8B8B8"/>
                </a:solidFill>
                <a:latin typeface="Arial" pitchFamily="34" charset="0"/>
                <a:ea typeface="Arial" pitchFamily="34" charset="-122"/>
                <a:cs typeface="Arial" pitchFamily="34" charset="-120"/>
              </a:rPr>
              <a:t>Hadi  ·  August 2026  ·  the web app, accessibility, consent, and a distance prototype</a:t>
            </a:r>
            <a:endParaRPr lang="en-US" sz="1300" dirty="0"/>
          </a:p>
        </p:txBody>
      </p:sp>
      <p:sp>
        <p:nvSpPr>
          <p:cNvPr id="7" name="Text 5"/>
          <p:cNvSpPr txBox="1"/>
          <p:nvPr/>
        </p:nvSpPr>
        <p:spPr>
          <a:xfrm>
            <a:off x="822960" y="5257800"/>
            <a:ext cx="10515600" cy="365760"/>
          </a:xfrm>
          <a:prstGeom prst="rect">
            <a:avLst/>
          </a:prstGeom>
          <a:noFill/>
          <a:ln/>
        </p:spPr>
        <p:txBody>
          <a:bodyPr wrap="square" lIns="0" tIns="0" rIns="0" bIns="0" rtlCol="0" anchor="ctr"/>
          <a:lstStyle/>
          <a:p>
            <a:pPr indent="0" marL="0">
              <a:buNone/>
            </a:pPr>
            <a:r>
              <a:rPr lang="en-US" sz="1500" i="1" dirty="0">
                <a:solidFill>
                  <a:srgbClr val="B8B8B8"/>
                </a:solidFill>
                <a:latin typeface="Arial" pitchFamily="34" charset="0"/>
                <a:ea typeface="Arial" pitchFamily="34" charset="-122"/>
                <a:cs typeface="Arial" pitchFamily="34" charset="-120"/>
              </a:rPr>
              <a:t>Point a phone at a room. Hear what is there, in Arabic.</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Where it stands today</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Live, installable, and running against the real backend</a:t>
            </a:r>
            <a:endParaRPr lang="en-US" sz="1500" dirty="0"/>
          </a:p>
        </p:txBody>
      </p:sp>
      <p:sp>
        <p:nvSpPr>
          <p:cNvPr id="4" name="Shape 2"/>
          <p:cNvSpPr/>
          <p:nvPr/>
        </p:nvSpPr>
        <p:spPr>
          <a:xfrm>
            <a:off x="609448" y="2057400"/>
            <a:ext cx="3200400" cy="2240280"/>
          </a:xfrm>
          <a:prstGeom prst="roundRect">
            <a:avLst>
              <a:gd name="adj" fmla="val 4898"/>
            </a:avLst>
          </a:prstGeom>
          <a:solidFill>
            <a:srgbClr val="141414"/>
          </a:solidFill>
          <a:ln w="12700">
            <a:solidFill>
              <a:srgbClr val="2A3340"/>
            </a:solidFill>
            <a:prstDash val="solid"/>
          </a:ln>
        </p:spPr>
      </p:sp>
      <p:sp>
        <p:nvSpPr>
          <p:cNvPr id="5" name="Shape 3"/>
          <p:cNvSpPr/>
          <p:nvPr/>
        </p:nvSpPr>
        <p:spPr>
          <a:xfrm>
            <a:off x="929488" y="2377440"/>
            <a:ext cx="475488" cy="475488"/>
          </a:xfrm>
          <a:prstGeom prst="ellipse">
            <a:avLst/>
          </a:prstGeom>
          <a:solidFill>
            <a:srgbClr val="FFD400"/>
          </a:solidFill>
          <a:ln/>
        </p:spPr>
      </p:sp>
      <p:sp>
        <p:nvSpPr>
          <p:cNvPr id="6" name="Text 4"/>
          <p:cNvSpPr txBox="1"/>
          <p:nvPr/>
        </p:nvSpPr>
        <p:spPr>
          <a:xfrm>
            <a:off x="929488" y="2377440"/>
            <a:ext cx="475488" cy="475488"/>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1</a:t>
            </a:r>
            <a:endParaRPr lang="en-US" sz="1700" dirty="0"/>
          </a:p>
        </p:txBody>
      </p:sp>
      <p:sp>
        <p:nvSpPr>
          <p:cNvPr id="7" name="Text 5"/>
          <p:cNvSpPr txBox="1"/>
          <p:nvPr/>
        </p:nvSpPr>
        <p:spPr>
          <a:xfrm>
            <a:off x="1569568" y="2395728"/>
            <a:ext cx="2011680" cy="41148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Camera</a:t>
            </a:r>
            <a:endParaRPr lang="en-US" sz="2100" dirty="0"/>
          </a:p>
        </p:txBody>
      </p:sp>
      <p:sp>
        <p:nvSpPr>
          <p:cNvPr id="8" name="Text 6"/>
          <p:cNvSpPr txBox="1"/>
          <p:nvPr/>
        </p:nvSpPr>
        <p:spPr>
          <a:xfrm>
            <a:off x="929488" y="3035808"/>
            <a:ext cx="2560320" cy="1051560"/>
          </a:xfrm>
          <a:prstGeom prst="rect">
            <a:avLst/>
          </a:prstGeom>
          <a:noFill/>
          <a:ln/>
        </p:spPr>
        <p:txBody>
          <a:bodyPr wrap="square" lIns="0" tIns="0" rIns="0" bIns="0" rtlCol="0" anchor="t"/>
          <a:lstStyle/>
          <a:p>
            <a:pPr indent="0" marL="0">
              <a:lnSpc>
                <a:spcPts val="1900"/>
              </a:lnSpc>
              <a:buNone/>
            </a:pPr>
            <a:r>
              <a:rPr lang="en-US" sz="1300" dirty="0">
                <a:solidFill>
                  <a:srgbClr val="B8B8B8"/>
                </a:solidFill>
                <a:latin typeface="Arial" pitchFamily="34" charset="0"/>
                <a:ea typeface="Arial" pitchFamily="34" charset="-122"/>
                <a:cs typeface="Arial" pitchFamily="34" charset="-120"/>
              </a:rPr>
              <a:t>A frame from the phone.</a:t>
            </a:r>
            <a:endParaRPr lang="en-US" sz="1300" dirty="0"/>
          </a:p>
          <a:p>
            <a:pPr indent="0" marL="0">
              <a:lnSpc>
                <a:spcPts val="1900"/>
              </a:lnSpc>
              <a:buNone/>
            </a:pPr>
            <a:r>
              <a:rPr lang="en-US" sz="1300" dirty="0">
                <a:solidFill>
                  <a:srgbClr val="B8B8B8"/>
                </a:solidFill>
                <a:latin typeface="Arial" pitchFamily="34" charset="0"/>
                <a:ea typeface="Arial" pitchFamily="34" charset="-122"/>
                <a:cs typeface="Arial" pitchFamily="34" charset="-120"/>
              </a:rPr>
              <a:t>No video stream, one still.</a:t>
            </a:r>
            <a:endParaRPr lang="en-US" sz="1300" dirty="0"/>
          </a:p>
        </p:txBody>
      </p:sp>
      <p:sp>
        <p:nvSpPr>
          <p:cNvPr id="9" name="Shape 7"/>
          <p:cNvSpPr/>
          <p:nvPr/>
        </p:nvSpPr>
        <p:spPr>
          <a:xfrm rot="5400000">
            <a:off x="4011016" y="3017520"/>
            <a:ext cx="274320" cy="310896"/>
          </a:xfrm>
          <a:prstGeom prst="triangle">
            <a:avLst/>
          </a:prstGeom>
          <a:solidFill>
            <a:srgbClr val="FFD400"/>
          </a:solidFill>
          <a:ln/>
        </p:spPr>
      </p:sp>
      <p:sp>
        <p:nvSpPr>
          <p:cNvPr id="10" name="Shape 8"/>
          <p:cNvSpPr/>
          <p:nvPr/>
        </p:nvSpPr>
        <p:spPr>
          <a:xfrm>
            <a:off x="4495648" y="2057400"/>
            <a:ext cx="3200400" cy="2240280"/>
          </a:xfrm>
          <a:prstGeom prst="roundRect">
            <a:avLst>
              <a:gd name="adj" fmla="val 4898"/>
            </a:avLst>
          </a:prstGeom>
          <a:solidFill>
            <a:srgbClr val="141414"/>
          </a:solidFill>
          <a:ln w="12700">
            <a:solidFill>
              <a:srgbClr val="2A3340"/>
            </a:solidFill>
            <a:prstDash val="solid"/>
          </a:ln>
        </p:spPr>
      </p:sp>
      <p:sp>
        <p:nvSpPr>
          <p:cNvPr id="11" name="Shape 9"/>
          <p:cNvSpPr/>
          <p:nvPr/>
        </p:nvSpPr>
        <p:spPr>
          <a:xfrm>
            <a:off x="4815688" y="2377440"/>
            <a:ext cx="475488" cy="475488"/>
          </a:xfrm>
          <a:prstGeom prst="ellipse">
            <a:avLst/>
          </a:prstGeom>
          <a:solidFill>
            <a:srgbClr val="FFD400"/>
          </a:solidFill>
          <a:ln/>
        </p:spPr>
      </p:sp>
      <p:sp>
        <p:nvSpPr>
          <p:cNvPr id="12" name="Text 10"/>
          <p:cNvSpPr txBox="1"/>
          <p:nvPr/>
        </p:nvSpPr>
        <p:spPr>
          <a:xfrm>
            <a:off x="4815688" y="2377440"/>
            <a:ext cx="475488" cy="475488"/>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5455768" y="2395728"/>
            <a:ext cx="2011680" cy="41148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AWS</a:t>
            </a:r>
            <a:endParaRPr lang="en-US" sz="2100" dirty="0"/>
          </a:p>
        </p:txBody>
      </p:sp>
      <p:sp>
        <p:nvSpPr>
          <p:cNvPr id="14" name="Text 12"/>
          <p:cNvSpPr txBox="1"/>
          <p:nvPr/>
        </p:nvSpPr>
        <p:spPr>
          <a:xfrm>
            <a:off x="4815688" y="3035808"/>
            <a:ext cx="2560320" cy="1051560"/>
          </a:xfrm>
          <a:prstGeom prst="rect">
            <a:avLst/>
          </a:prstGeom>
          <a:noFill/>
          <a:ln/>
        </p:spPr>
        <p:txBody>
          <a:bodyPr wrap="square" lIns="0" tIns="0" rIns="0" bIns="0" rtlCol="0" anchor="t"/>
          <a:lstStyle/>
          <a:p>
            <a:pPr indent="0" marL="0">
              <a:lnSpc>
                <a:spcPts val="1900"/>
              </a:lnSpc>
              <a:buNone/>
            </a:pPr>
            <a:r>
              <a:rPr lang="en-US" sz="1300" dirty="0">
                <a:solidFill>
                  <a:srgbClr val="B8B8B8"/>
                </a:solidFill>
                <a:latin typeface="Arial" pitchFamily="34" charset="0"/>
                <a:ea typeface="Arial" pitchFamily="34" charset="-122"/>
                <a:cs typeface="Arial" pitchFamily="34" charset="-120"/>
              </a:rPr>
              <a:t>Bedrock describes the scene.</a:t>
            </a:r>
            <a:endParaRPr lang="en-US" sz="1300" dirty="0"/>
          </a:p>
          <a:p>
            <a:pPr indent="0" marL="0">
              <a:lnSpc>
                <a:spcPts val="1900"/>
              </a:lnSpc>
              <a:buNone/>
            </a:pPr>
            <a:r>
              <a:rPr lang="en-US" sz="1300" dirty="0">
                <a:solidFill>
                  <a:srgbClr val="B8B8B8"/>
                </a:solidFill>
                <a:latin typeface="Arial" pitchFamily="34" charset="0"/>
                <a:ea typeface="Arial" pitchFamily="34" charset="-122"/>
                <a:cs typeface="Arial" pitchFamily="34" charset="-120"/>
              </a:rPr>
              <a:t>Rekognition finds faces.</a:t>
            </a:r>
            <a:endParaRPr lang="en-US" sz="1300" dirty="0"/>
          </a:p>
          <a:p>
            <a:pPr indent="0" marL="0">
              <a:lnSpc>
                <a:spcPts val="1900"/>
              </a:lnSpc>
              <a:buNone/>
            </a:pPr>
            <a:r>
              <a:rPr lang="en-US" sz="1300" dirty="0">
                <a:solidFill>
                  <a:srgbClr val="B8B8B8"/>
                </a:solidFill>
                <a:latin typeface="Arial" pitchFamily="34" charset="0"/>
                <a:ea typeface="Arial" pitchFamily="34" charset="-122"/>
                <a:cs typeface="Arial" pitchFamily="34" charset="-120"/>
              </a:rPr>
              <a:t>Textract reads text.</a:t>
            </a:r>
            <a:endParaRPr lang="en-US" sz="1300" dirty="0"/>
          </a:p>
        </p:txBody>
      </p:sp>
      <p:sp>
        <p:nvSpPr>
          <p:cNvPr id="15" name="Shape 13"/>
          <p:cNvSpPr/>
          <p:nvPr/>
        </p:nvSpPr>
        <p:spPr>
          <a:xfrm rot="5400000">
            <a:off x="7897216" y="3017520"/>
            <a:ext cx="274320" cy="310896"/>
          </a:xfrm>
          <a:prstGeom prst="triangle">
            <a:avLst/>
          </a:prstGeom>
          <a:solidFill>
            <a:srgbClr val="FFD400"/>
          </a:solidFill>
          <a:ln/>
        </p:spPr>
      </p:sp>
      <p:sp>
        <p:nvSpPr>
          <p:cNvPr id="16" name="Shape 14"/>
          <p:cNvSpPr/>
          <p:nvPr/>
        </p:nvSpPr>
        <p:spPr>
          <a:xfrm>
            <a:off x="8381848" y="2057400"/>
            <a:ext cx="3200400" cy="2240280"/>
          </a:xfrm>
          <a:prstGeom prst="roundRect">
            <a:avLst>
              <a:gd name="adj" fmla="val 4898"/>
            </a:avLst>
          </a:prstGeom>
          <a:solidFill>
            <a:srgbClr val="141414"/>
          </a:solidFill>
          <a:ln w="12700">
            <a:solidFill>
              <a:srgbClr val="2A3340"/>
            </a:solidFill>
            <a:prstDash val="solid"/>
          </a:ln>
        </p:spPr>
      </p:sp>
      <p:sp>
        <p:nvSpPr>
          <p:cNvPr id="17" name="Shape 15"/>
          <p:cNvSpPr/>
          <p:nvPr/>
        </p:nvSpPr>
        <p:spPr>
          <a:xfrm>
            <a:off x="8701888" y="2377440"/>
            <a:ext cx="475488" cy="475488"/>
          </a:xfrm>
          <a:prstGeom prst="ellipse">
            <a:avLst/>
          </a:prstGeom>
          <a:solidFill>
            <a:srgbClr val="FFD400"/>
          </a:solidFill>
          <a:ln/>
        </p:spPr>
      </p:sp>
      <p:sp>
        <p:nvSpPr>
          <p:cNvPr id="18" name="Text 16"/>
          <p:cNvSpPr txBox="1"/>
          <p:nvPr/>
        </p:nvSpPr>
        <p:spPr>
          <a:xfrm>
            <a:off x="8701888" y="2377440"/>
            <a:ext cx="475488" cy="475488"/>
          </a:xfrm>
          <a:prstGeom prst="rect">
            <a:avLst/>
          </a:prstGeom>
          <a:noFill/>
          <a:ln/>
        </p:spPr>
        <p:txBody>
          <a:bodyPr wrap="square" lIns="0" tIns="0" rIns="0" bIns="0" rtlCol="0" anchor="ctr"/>
          <a:lstStyle/>
          <a:p>
            <a:pPr algn="ctr" indent="0" marL="0">
              <a:buNone/>
            </a:pPr>
            <a:r>
              <a:rPr lang="en-US" sz="1700" b="1" dirty="0">
                <a:solidFill>
                  <a:srgbClr val="000000"/>
                </a:solidFill>
                <a:latin typeface="Arial" pitchFamily="34" charset="0"/>
                <a:ea typeface="Arial" pitchFamily="34" charset="-122"/>
                <a:cs typeface="Arial" pitchFamily="34" charset="-120"/>
              </a:rPr>
              <a:t>3</a:t>
            </a:r>
            <a:endParaRPr lang="en-US" sz="1700" dirty="0"/>
          </a:p>
        </p:txBody>
      </p:sp>
      <p:sp>
        <p:nvSpPr>
          <p:cNvPr id="19" name="Text 17"/>
          <p:cNvSpPr txBox="1"/>
          <p:nvPr/>
        </p:nvSpPr>
        <p:spPr>
          <a:xfrm>
            <a:off x="9341968" y="2395728"/>
            <a:ext cx="2011680" cy="41148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Arabic</a:t>
            </a:r>
            <a:endParaRPr lang="en-US" sz="2100" dirty="0"/>
          </a:p>
        </p:txBody>
      </p:sp>
      <p:sp>
        <p:nvSpPr>
          <p:cNvPr id="20" name="Text 18"/>
          <p:cNvSpPr txBox="1"/>
          <p:nvPr/>
        </p:nvSpPr>
        <p:spPr>
          <a:xfrm>
            <a:off x="8701888" y="3035808"/>
            <a:ext cx="2560320" cy="1051560"/>
          </a:xfrm>
          <a:prstGeom prst="rect">
            <a:avLst/>
          </a:prstGeom>
          <a:noFill/>
          <a:ln/>
        </p:spPr>
        <p:txBody>
          <a:bodyPr wrap="square" lIns="0" tIns="0" rIns="0" bIns="0" rtlCol="0" anchor="t"/>
          <a:lstStyle/>
          <a:p>
            <a:pPr indent="0" marL="0">
              <a:lnSpc>
                <a:spcPts val="1900"/>
              </a:lnSpc>
              <a:buNone/>
            </a:pPr>
            <a:r>
              <a:rPr lang="en-US" sz="1300" dirty="0">
                <a:solidFill>
                  <a:srgbClr val="B8B8B8"/>
                </a:solidFill>
                <a:latin typeface="Arial" pitchFamily="34" charset="0"/>
                <a:ea typeface="Arial" pitchFamily="34" charset="-122"/>
                <a:cs typeface="Arial" pitchFamily="34" charset="-120"/>
              </a:rPr>
              <a:t>Polly speaks the answer.</a:t>
            </a:r>
            <a:endParaRPr lang="en-US" sz="1300" dirty="0"/>
          </a:p>
          <a:p>
            <a:pPr indent="0" marL="0">
              <a:lnSpc>
                <a:spcPts val="1900"/>
              </a:lnSpc>
              <a:buNone/>
            </a:pPr>
            <a:r>
              <a:rPr lang="en-US" sz="1300" dirty="0">
                <a:solidFill>
                  <a:srgbClr val="B8B8B8"/>
                </a:solidFill>
                <a:latin typeface="Arial" pitchFamily="34" charset="0"/>
                <a:ea typeface="Arial" pitchFamily="34" charset="-122"/>
                <a:cs typeface="Arial" pitchFamily="34" charset="-120"/>
              </a:rPr>
              <a:t>Common phrases cached</a:t>
            </a:r>
            <a:endParaRPr lang="en-US" sz="1300" dirty="0"/>
          </a:p>
          <a:p>
            <a:pPr indent="0" marL="0">
              <a:lnSpc>
                <a:spcPts val="1900"/>
              </a:lnSpc>
              <a:buNone/>
            </a:pPr>
            <a:r>
              <a:rPr lang="en-US" sz="1300" dirty="0">
                <a:solidFill>
                  <a:srgbClr val="B8B8B8"/>
                </a:solidFill>
                <a:latin typeface="Arial" pitchFamily="34" charset="0"/>
                <a:ea typeface="Arial" pitchFamily="34" charset="-122"/>
                <a:cs typeface="Arial" pitchFamily="34" charset="-120"/>
              </a:rPr>
              <a:t>on the device.</a:t>
            </a:r>
            <a:endParaRPr lang="en-US" sz="1300" dirty="0"/>
          </a:p>
        </p:txBody>
      </p:sp>
      <p:sp>
        <p:nvSpPr>
          <p:cNvPr id="21" name="Text 19"/>
          <p:cNvSpPr txBox="1"/>
          <p:nvPr/>
        </p:nvSpPr>
        <p:spPr>
          <a:xfrm>
            <a:off x="609448" y="4892040"/>
            <a:ext cx="10972800" cy="640080"/>
          </a:xfrm>
          <a:prstGeom prst="rect">
            <a:avLst/>
          </a:prstGeom>
          <a:noFill/>
          <a:ln/>
        </p:spPr>
        <p:txBody>
          <a:bodyPr wrap="square" lIns="0" tIns="0" rIns="0" bIns="0" rtlCol="0" anchor="ctr"/>
          <a:lstStyle/>
          <a:p>
            <a:pPr indent="0" marL="0">
              <a:lnSpc>
                <a:spcPts val="2200"/>
              </a:lnSpc>
              <a:buNone/>
            </a:pPr>
            <a:r>
              <a:rPr lang="en-US" sz="1400" dirty="0">
                <a:solidFill>
                  <a:srgbClr val="B8B8B8"/>
                </a:solidFill>
                <a:latin typeface="Arial" pitchFamily="34" charset="0"/>
                <a:ea typeface="Arial" pitchFamily="34" charset="-122"/>
                <a:cs typeface="Arial" pitchFamily="34" charset="-120"/>
              </a:rPr>
              <a:t>Eight Lambda functions behind one API Gateway in eu-west-2. The web app is deployed on Amplify and installs to a home screen like any other app.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Two themes, one system</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The app has two very different users. It should not look the same for both.</a:t>
            </a:r>
            <a:endParaRPr lang="en-US" sz="1500" dirty="0"/>
          </a:p>
        </p:txBody>
      </p:sp>
      <p:sp>
        <p:nvSpPr>
          <p:cNvPr id="4" name="Shape 2"/>
          <p:cNvSpPr/>
          <p:nvPr/>
        </p:nvSpPr>
        <p:spPr>
          <a:xfrm>
            <a:off x="822960" y="1965960"/>
            <a:ext cx="4937760" cy="3291840"/>
          </a:xfrm>
          <a:prstGeom prst="roundRect">
            <a:avLst>
              <a:gd name="adj" fmla="val 3333"/>
            </a:avLst>
          </a:prstGeom>
          <a:solidFill>
            <a:srgbClr val="EAF1FC"/>
          </a:solidFill>
          <a:ln w="12700">
            <a:solidFill>
              <a:srgbClr val="C7D6EC"/>
            </a:solidFill>
            <a:prstDash val="solid"/>
          </a:ln>
        </p:spPr>
      </p:sp>
      <p:sp>
        <p:nvSpPr>
          <p:cNvPr id="5" name="Text 3"/>
          <p:cNvSpPr txBox="1"/>
          <p:nvPr/>
        </p:nvSpPr>
        <p:spPr>
          <a:xfrm>
            <a:off x="1188720" y="2240280"/>
            <a:ext cx="4206240" cy="411480"/>
          </a:xfrm>
          <a:prstGeom prst="rect">
            <a:avLst/>
          </a:prstGeom>
          <a:noFill/>
          <a:ln/>
        </p:spPr>
        <p:txBody>
          <a:bodyPr wrap="square" lIns="0" tIns="0" rIns="0" bIns="0" rtlCol="0" anchor="ctr"/>
          <a:lstStyle/>
          <a:p>
            <a:pPr indent="0" marL="0">
              <a:buNone/>
            </a:pPr>
            <a:r>
              <a:rPr lang="en-US" sz="2400" b="1" dirty="0">
                <a:solidFill>
                  <a:srgbClr val="0A2F6B"/>
                </a:solidFill>
                <a:latin typeface="Arial" pitchFamily="34" charset="0"/>
                <a:ea typeface="Arial" pitchFamily="34" charset="-122"/>
                <a:cs typeface="Arial" pitchFamily="34" charset="-120"/>
              </a:rPr>
              <a:t>Guardian</a:t>
            </a:r>
            <a:endParaRPr lang="en-US" sz="2400" dirty="0"/>
          </a:p>
        </p:txBody>
      </p:sp>
      <p:sp>
        <p:nvSpPr>
          <p:cNvPr id="6" name="Text 4"/>
          <p:cNvSpPr txBox="1"/>
          <p:nvPr/>
        </p:nvSpPr>
        <p:spPr>
          <a:xfrm>
            <a:off x="1188720" y="2743200"/>
            <a:ext cx="4206240" cy="914400"/>
          </a:xfrm>
          <a:prstGeom prst="rect">
            <a:avLst/>
          </a:prstGeom>
          <a:noFill/>
          <a:ln/>
        </p:spPr>
        <p:txBody>
          <a:bodyPr wrap="square" lIns="0" tIns="0" rIns="0" bIns="0" rtlCol="0" anchor="ctr"/>
          <a:lstStyle/>
          <a:p>
            <a:pPr indent="0" marL="0">
              <a:lnSpc>
                <a:spcPts val="2100"/>
              </a:lnSpc>
              <a:buNone/>
            </a:pPr>
            <a:r>
              <a:rPr lang="en-US" sz="1400" dirty="0">
                <a:solidFill>
                  <a:srgbClr val="3A4A5E"/>
                </a:solidFill>
                <a:latin typeface="Arial" pitchFamily="34" charset="0"/>
                <a:ea typeface="Arial" pitchFamily="34" charset="-122"/>
                <a:cs typeface="Arial" pitchFamily="34" charset="-120"/>
              </a:rPr>
              <a:t>Default. Light navy on ice blue.</a:t>
            </a:r>
            <a:endParaRPr lang="en-US" sz="1400" dirty="0"/>
          </a:p>
          <a:p>
            <a:pPr indent="0" marL="0">
              <a:lnSpc>
                <a:spcPts val="2100"/>
              </a:lnSpc>
              <a:buNone/>
            </a:pPr>
            <a:r>
              <a:rPr lang="en-US" sz="1400" dirty="0">
                <a:solidFill>
                  <a:srgbClr val="3A4A5E"/>
                </a:solidFill>
                <a:latin typeface="Arial" pitchFamily="34" charset="0"/>
                <a:ea typeface="Arial" pitchFamily="34" charset="-122"/>
                <a:cs typeface="Arial" pitchFamily="34" charset="-120"/>
              </a:rPr>
              <a:t>For the sighted family member or</a:t>
            </a:r>
            <a:endParaRPr lang="en-US" sz="1400" dirty="0"/>
          </a:p>
          <a:p>
            <a:pPr indent="0" marL="0">
              <a:lnSpc>
                <a:spcPts val="2100"/>
              </a:lnSpc>
              <a:buNone/>
            </a:pPr>
            <a:r>
              <a:rPr lang="en-US" sz="1400" dirty="0">
                <a:solidFill>
                  <a:srgbClr val="3A4A5E"/>
                </a:solidFill>
                <a:latin typeface="Arial" pitchFamily="34" charset="0"/>
                <a:ea typeface="Arial" pitchFamily="34" charset="-122"/>
                <a:cs typeface="Arial" pitchFamily="34" charset="-120"/>
              </a:rPr>
              <a:t>carer using this on their own phone.</a:t>
            </a:r>
            <a:endParaRPr lang="en-US" sz="1400" dirty="0"/>
          </a:p>
        </p:txBody>
      </p:sp>
      <p:sp>
        <p:nvSpPr>
          <p:cNvPr id="7" name="Shape 5"/>
          <p:cNvSpPr/>
          <p:nvPr/>
        </p:nvSpPr>
        <p:spPr>
          <a:xfrm>
            <a:off x="1188720" y="3886200"/>
            <a:ext cx="502920" cy="502920"/>
          </a:xfrm>
          <a:prstGeom prst="roundRect">
            <a:avLst>
              <a:gd name="adj" fmla="val 14545"/>
            </a:avLst>
          </a:prstGeom>
          <a:solidFill>
            <a:srgbClr val="0A2F6B"/>
          </a:solidFill>
          <a:ln/>
        </p:spPr>
      </p:sp>
      <p:sp>
        <p:nvSpPr>
          <p:cNvPr id="8" name="Shape 6"/>
          <p:cNvSpPr/>
          <p:nvPr/>
        </p:nvSpPr>
        <p:spPr>
          <a:xfrm>
            <a:off x="1847088" y="3886200"/>
            <a:ext cx="502920" cy="502920"/>
          </a:xfrm>
          <a:prstGeom prst="roundRect">
            <a:avLst>
              <a:gd name="adj" fmla="val 14545"/>
            </a:avLst>
          </a:prstGeom>
          <a:solidFill>
            <a:srgbClr val="5A6C82"/>
          </a:solidFill>
          <a:ln/>
        </p:spPr>
      </p:sp>
      <p:sp>
        <p:nvSpPr>
          <p:cNvPr id="9" name="Shape 7"/>
          <p:cNvSpPr/>
          <p:nvPr/>
        </p:nvSpPr>
        <p:spPr>
          <a:xfrm>
            <a:off x="2505456" y="3886200"/>
            <a:ext cx="502920" cy="502920"/>
          </a:xfrm>
          <a:prstGeom prst="roundRect">
            <a:avLst>
              <a:gd name="adj" fmla="val 14545"/>
            </a:avLst>
          </a:prstGeom>
          <a:solidFill>
            <a:srgbClr val="1B7F3B"/>
          </a:solidFill>
          <a:ln/>
        </p:spPr>
      </p:sp>
      <p:sp>
        <p:nvSpPr>
          <p:cNvPr id="10" name="Shape 8"/>
          <p:cNvSpPr/>
          <p:nvPr/>
        </p:nvSpPr>
        <p:spPr>
          <a:xfrm>
            <a:off x="3163824" y="3886200"/>
            <a:ext cx="502920" cy="502920"/>
          </a:xfrm>
          <a:prstGeom prst="roundRect">
            <a:avLst>
              <a:gd name="adj" fmla="val 14545"/>
            </a:avLst>
          </a:prstGeom>
          <a:solidFill>
            <a:srgbClr val="C1121F"/>
          </a:solidFill>
          <a:ln/>
        </p:spPr>
      </p:sp>
      <p:sp>
        <p:nvSpPr>
          <p:cNvPr id="11" name="Text 9"/>
          <p:cNvSpPr txBox="1"/>
          <p:nvPr/>
        </p:nvSpPr>
        <p:spPr>
          <a:xfrm>
            <a:off x="1188720" y="4617720"/>
            <a:ext cx="4206240" cy="457200"/>
          </a:xfrm>
          <a:prstGeom prst="rect">
            <a:avLst/>
          </a:prstGeom>
          <a:noFill/>
          <a:ln/>
        </p:spPr>
        <p:txBody>
          <a:bodyPr wrap="square" lIns="0" tIns="0" rIns="0" bIns="0" rtlCol="0" anchor="ctr"/>
          <a:lstStyle/>
          <a:p>
            <a:pPr indent="0" marL="0">
              <a:buNone/>
            </a:pPr>
            <a:r>
              <a:rPr lang="en-US" sz="1200" i="1" dirty="0">
                <a:solidFill>
                  <a:srgbClr val="5A6C82"/>
                </a:solidFill>
                <a:latin typeface="Arial" pitchFamily="34" charset="0"/>
                <a:ea typeface="Arial" pitchFamily="34" charset="-122"/>
                <a:cs typeface="Arial" pitchFamily="34" charset="-120"/>
              </a:rPr>
              <a:t>Every colour above clears 4.5:1 on its own background.</a:t>
            </a:r>
            <a:endParaRPr lang="en-US" sz="1200" dirty="0"/>
          </a:p>
        </p:txBody>
      </p:sp>
      <p:sp>
        <p:nvSpPr>
          <p:cNvPr id="12" name="Shape 10"/>
          <p:cNvSpPr/>
          <p:nvPr/>
        </p:nvSpPr>
        <p:spPr>
          <a:xfrm>
            <a:off x="6446520" y="1965960"/>
            <a:ext cx="4937760" cy="3291840"/>
          </a:xfrm>
          <a:prstGeom prst="roundRect">
            <a:avLst>
              <a:gd name="adj" fmla="val 3333"/>
            </a:avLst>
          </a:prstGeom>
          <a:solidFill>
            <a:srgbClr val="000000"/>
          </a:solidFill>
          <a:ln w="12700">
            <a:solidFill>
              <a:srgbClr val="6B6B6B"/>
            </a:solidFill>
            <a:prstDash val="solid"/>
          </a:ln>
        </p:spPr>
      </p:sp>
      <p:sp>
        <p:nvSpPr>
          <p:cNvPr id="13" name="Text 11"/>
          <p:cNvSpPr txBox="1"/>
          <p:nvPr/>
        </p:nvSpPr>
        <p:spPr>
          <a:xfrm>
            <a:off x="6812280" y="2240280"/>
            <a:ext cx="4206240" cy="411480"/>
          </a:xfrm>
          <a:prstGeom prst="rect">
            <a:avLst/>
          </a:prstGeom>
          <a:noFill/>
          <a:ln/>
        </p:spPr>
        <p:txBody>
          <a:bodyPr wrap="square" lIns="0" tIns="0" rIns="0" bIns="0" rtlCol="0" anchor="ctr"/>
          <a:lstStyle/>
          <a:p>
            <a:pPr indent="0" marL="0">
              <a:buNone/>
            </a:pPr>
            <a:r>
              <a:rPr lang="en-US" sz="2400" b="1" dirty="0">
                <a:solidFill>
                  <a:srgbClr val="FFD400"/>
                </a:solidFill>
                <a:latin typeface="Arial" pitchFamily="34" charset="0"/>
                <a:ea typeface="Arial" pitchFamily="34" charset="-122"/>
                <a:cs typeface="Arial" pitchFamily="34" charset="-120"/>
              </a:rPr>
              <a:t>High contrast</a:t>
            </a:r>
            <a:endParaRPr lang="en-US" sz="2400" dirty="0"/>
          </a:p>
        </p:txBody>
      </p:sp>
      <p:sp>
        <p:nvSpPr>
          <p:cNvPr id="14" name="Text 12"/>
          <p:cNvSpPr txBox="1"/>
          <p:nvPr/>
        </p:nvSpPr>
        <p:spPr>
          <a:xfrm>
            <a:off x="6812280" y="2743200"/>
            <a:ext cx="4206240" cy="914400"/>
          </a:xfrm>
          <a:prstGeom prst="rect">
            <a:avLst/>
          </a:prstGeom>
          <a:noFill/>
          <a:ln/>
        </p:spPr>
        <p:txBody>
          <a:bodyPr wrap="square" lIns="0" tIns="0" rIns="0" bIns="0" rtlCol="0" anchor="ctr"/>
          <a:lstStyle/>
          <a:p>
            <a:pPr indent="0" marL="0">
              <a:lnSpc>
                <a:spcPts val="2100"/>
              </a:lnSpc>
              <a:buNone/>
            </a:pPr>
            <a:r>
              <a:rPr lang="en-US" sz="1400" dirty="0">
                <a:solidFill>
                  <a:srgbClr val="FFFFFF"/>
                </a:solidFill>
                <a:latin typeface="Arial" pitchFamily="34" charset="0"/>
                <a:ea typeface="Arial" pitchFamily="34" charset="-122"/>
                <a:cs typeface="Arial" pitchFamily="34" charset="-120"/>
              </a:rPr>
              <a:t>Black and yellow. For low-vision</a:t>
            </a:r>
            <a:endParaRPr lang="en-US" sz="1400" dirty="0"/>
          </a:p>
          <a:p>
            <a:pPr indent="0" marL="0">
              <a:lnSpc>
                <a:spcPts val="2100"/>
              </a:lnSpc>
              <a:buNone/>
            </a:pPr>
            <a:r>
              <a:rPr lang="en-US" sz="1400" dirty="0">
                <a:solidFill>
                  <a:srgbClr val="FFFFFF"/>
                </a:solidFill>
                <a:latin typeface="Arial" pitchFamily="34" charset="0"/>
                <a:ea typeface="Arial" pitchFamily="34" charset="-122"/>
                <a:cs typeface="Arial" pitchFamily="34" charset="-120"/>
              </a:rPr>
              <a:t>users with some sight left — the</a:t>
            </a:r>
            <a:endParaRPr lang="en-US" sz="1400" dirty="0"/>
          </a:p>
          <a:p>
            <a:pPr indent="0" marL="0">
              <a:lnSpc>
                <a:spcPts val="2100"/>
              </a:lnSpc>
              <a:buNone/>
            </a:pPr>
            <a:r>
              <a:rPr lang="en-US" sz="1400" dirty="0">
                <a:solidFill>
                  <a:srgbClr val="FFFFFF"/>
                </a:solidFill>
                <a:latin typeface="Arial" pitchFamily="34" charset="0"/>
                <a:ea typeface="Arial" pitchFamily="34" charset="-122"/>
                <a:cs typeface="Arial" pitchFamily="34" charset="-120"/>
              </a:rPr>
              <a:t>people this app is actually for.</a:t>
            </a:r>
            <a:endParaRPr lang="en-US" sz="1400" dirty="0"/>
          </a:p>
        </p:txBody>
      </p:sp>
      <p:sp>
        <p:nvSpPr>
          <p:cNvPr id="15" name="Shape 13"/>
          <p:cNvSpPr/>
          <p:nvPr/>
        </p:nvSpPr>
        <p:spPr>
          <a:xfrm>
            <a:off x="6812280" y="3886200"/>
            <a:ext cx="502920" cy="502920"/>
          </a:xfrm>
          <a:prstGeom prst="roundRect">
            <a:avLst>
              <a:gd name="adj" fmla="val 14545"/>
            </a:avLst>
          </a:prstGeom>
          <a:solidFill>
            <a:srgbClr val="FFD400"/>
          </a:solidFill>
          <a:ln/>
        </p:spPr>
      </p:sp>
      <p:sp>
        <p:nvSpPr>
          <p:cNvPr id="16" name="Shape 14"/>
          <p:cNvSpPr/>
          <p:nvPr/>
        </p:nvSpPr>
        <p:spPr>
          <a:xfrm>
            <a:off x="7470648" y="3886200"/>
            <a:ext cx="502920" cy="502920"/>
          </a:xfrm>
          <a:prstGeom prst="roundRect">
            <a:avLst>
              <a:gd name="adj" fmla="val 14545"/>
            </a:avLst>
          </a:prstGeom>
          <a:solidFill>
            <a:srgbClr val="FFFFFF"/>
          </a:solidFill>
          <a:ln/>
        </p:spPr>
      </p:sp>
      <p:sp>
        <p:nvSpPr>
          <p:cNvPr id="17" name="Shape 15"/>
          <p:cNvSpPr/>
          <p:nvPr/>
        </p:nvSpPr>
        <p:spPr>
          <a:xfrm>
            <a:off x="8129016" y="3886200"/>
            <a:ext cx="502920" cy="502920"/>
          </a:xfrm>
          <a:prstGeom prst="roundRect">
            <a:avLst>
              <a:gd name="adj" fmla="val 14545"/>
            </a:avLst>
          </a:prstGeom>
          <a:solidFill>
            <a:srgbClr val="B8B8B8"/>
          </a:solidFill>
          <a:ln/>
        </p:spPr>
      </p:sp>
      <p:sp>
        <p:nvSpPr>
          <p:cNvPr id="18" name="Shape 16"/>
          <p:cNvSpPr/>
          <p:nvPr/>
        </p:nvSpPr>
        <p:spPr>
          <a:xfrm>
            <a:off x="8787384" y="3886200"/>
            <a:ext cx="502920" cy="502920"/>
          </a:xfrm>
          <a:prstGeom prst="roundRect">
            <a:avLst>
              <a:gd name="adj" fmla="val 14545"/>
            </a:avLst>
          </a:prstGeom>
          <a:solidFill>
            <a:srgbClr val="6B6B6B"/>
          </a:solidFill>
          <a:ln/>
        </p:spPr>
      </p:sp>
      <p:sp>
        <p:nvSpPr>
          <p:cNvPr id="19" name="Text 17"/>
          <p:cNvSpPr txBox="1"/>
          <p:nvPr/>
        </p:nvSpPr>
        <p:spPr>
          <a:xfrm>
            <a:off x="6812280" y="4617720"/>
            <a:ext cx="4206240" cy="457200"/>
          </a:xfrm>
          <a:prstGeom prst="rect">
            <a:avLst/>
          </a:prstGeom>
          <a:noFill/>
          <a:ln/>
        </p:spPr>
        <p:txBody>
          <a:bodyPr wrap="square" lIns="0" tIns="0" rIns="0" bIns="0" rtlCol="0" anchor="ctr"/>
          <a:lstStyle/>
          <a:p>
            <a:pPr indent="0" marL="0">
              <a:buNone/>
            </a:pPr>
            <a:r>
              <a:rPr lang="en-US" sz="1200" i="1" dirty="0">
                <a:solidFill>
                  <a:srgbClr val="B8B8B8"/>
                </a:solidFill>
                <a:latin typeface="Arial" pitchFamily="34" charset="0"/>
                <a:ea typeface="Arial" pitchFamily="34" charset="-122"/>
                <a:cs typeface="Arial" pitchFamily="34" charset="-120"/>
              </a:rPr>
              <a:t>Every foreground here clears 7:1 — the stricter AAA bar.</a:t>
            </a:r>
            <a:endParaRPr lang="en-US" sz="1200" dirty="0"/>
          </a:p>
        </p:txBody>
      </p:sp>
      <p:sp>
        <p:nvSpPr>
          <p:cNvPr id="20" name="Text 18"/>
          <p:cNvSpPr txBox="1"/>
          <p:nvPr/>
        </p:nvSpPr>
        <p:spPr>
          <a:xfrm>
            <a:off x="822960" y="5623560"/>
            <a:ext cx="10561320" cy="457200"/>
          </a:xfrm>
          <a:prstGeom prst="rect">
            <a:avLst/>
          </a:prstGeom>
          <a:noFill/>
          <a:ln/>
        </p:spPr>
        <p:txBody>
          <a:bodyPr wrap="square" lIns="0" tIns="0" rIns="0" bIns="0" rtlCol="0" anchor="ctr"/>
          <a:lstStyle/>
          <a:p>
            <a:pPr indent="0" marL="0">
              <a:buNone/>
            </a:pPr>
            <a:r>
              <a:rPr lang="en-US" sz="1400" dirty="0">
                <a:solidFill>
                  <a:srgbClr val="B8B8B8"/>
                </a:solidFill>
                <a:latin typeface="Arial" pitchFamily="34" charset="0"/>
                <a:ea typeface="Arial" pitchFamily="34" charset="-122"/>
                <a:cs typeface="Arial" pitchFamily="34" charset="-120"/>
              </a:rPr>
              <a:t>One set of design tokens, swapped by a single attribute on the page. Nothing else in the app knows which theme is 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Measured the contrast, did not eyeball it</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Two colours I would have sworn were fine, and were not</a:t>
            </a:r>
            <a:endParaRPr lang="en-US" sz="1500" dirty="0"/>
          </a:p>
        </p:txBody>
      </p:sp>
      <p:sp>
        <p:nvSpPr>
          <p:cNvPr id="4" name="Text 2"/>
          <p:cNvSpPr txBox="1"/>
          <p:nvPr/>
        </p:nvSpPr>
        <p:spPr>
          <a:xfrm>
            <a:off x="822960" y="2011680"/>
            <a:ext cx="4114800" cy="82296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Arial" pitchFamily="34" charset="0"/>
                <a:ea typeface="Arial" pitchFamily="34" charset="-122"/>
                <a:cs typeface="Arial" pitchFamily="34" charset="-120"/>
              </a:rPr>
              <a:t>The red used for errors and stop buttons</a:t>
            </a:r>
            <a:endParaRPr lang="en-US" sz="1500" dirty="0"/>
          </a:p>
        </p:txBody>
      </p:sp>
      <p:sp>
        <p:nvSpPr>
          <p:cNvPr id="5" name="Shape 3"/>
          <p:cNvSpPr/>
          <p:nvPr/>
        </p:nvSpPr>
        <p:spPr>
          <a:xfrm>
            <a:off x="5120640" y="1920240"/>
            <a:ext cx="2834640" cy="1600200"/>
          </a:xfrm>
          <a:prstGeom prst="roundRect">
            <a:avLst>
              <a:gd name="adj" fmla="val 6857"/>
            </a:avLst>
          </a:prstGeom>
          <a:solidFill>
            <a:srgbClr val="141414"/>
          </a:solidFill>
          <a:ln w="12700">
            <a:solidFill>
              <a:srgbClr val="4A2A2E"/>
            </a:solidFill>
            <a:prstDash val="solid"/>
          </a:ln>
        </p:spPr>
      </p:sp>
      <p:sp>
        <p:nvSpPr>
          <p:cNvPr id="6" name="Text 4"/>
          <p:cNvSpPr txBox="1"/>
          <p:nvPr/>
        </p:nvSpPr>
        <p:spPr>
          <a:xfrm>
            <a:off x="5349240" y="2057400"/>
            <a:ext cx="2377440" cy="274320"/>
          </a:xfrm>
          <a:prstGeom prst="rect">
            <a:avLst/>
          </a:prstGeom>
          <a:noFill/>
          <a:ln/>
        </p:spPr>
        <p:txBody>
          <a:bodyPr wrap="square" lIns="0" tIns="0" rIns="0" bIns="0" rtlCol="0" anchor="ctr"/>
          <a:lstStyle/>
          <a:p>
            <a:pPr indent="0" marL="0">
              <a:buNone/>
            </a:pPr>
            <a:r>
              <a:rPr lang="en-US" sz="1000" b="1" spc="150" kern="0" dirty="0">
                <a:solidFill>
                  <a:srgbClr val="B8B8B8"/>
                </a:solidFill>
                <a:latin typeface="Arial" pitchFamily="34" charset="0"/>
                <a:ea typeface="Arial" pitchFamily="34" charset="-122"/>
                <a:cs typeface="Arial" pitchFamily="34" charset="-120"/>
              </a:rPr>
              <a:t>BEFORE</a:t>
            </a:r>
            <a:endParaRPr lang="en-US" sz="1000" dirty="0"/>
          </a:p>
        </p:txBody>
      </p:sp>
      <p:sp>
        <p:nvSpPr>
          <p:cNvPr id="7" name="Text 5"/>
          <p:cNvSpPr txBox="1"/>
          <p:nvPr/>
        </p:nvSpPr>
        <p:spPr>
          <a:xfrm>
            <a:off x="5349240" y="2304288"/>
            <a:ext cx="1554480" cy="548640"/>
          </a:xfrm>
          <a:prstGeom prst="rect">
            <a:avLst/>
          </a:prstGeom>
          <a:noFill/>
          <a:ln/>
        </p:spPr>
        <p:txBody>
          <a:bodyPr wrap="square" lIns="0" tIns="0" rIns="0" bIns="0" rtlCol="0" anchor="ctr"/>
          <a:lstStyle/>
          <a:p>
            <a:pPr indent="0" marL="0">
              <a:buNone/>
            </a:pPr>
            <a:r>
              <a:rPr lang="en-US" sz="3400" b="1" dirty="0">
                <a:solidFill>
                  <a:srgbClr val="E05561"/>
                </a:solidFill>
                <a:latin typeface="Arial" pitchFamily="34" charset="0"/>
                <a:ea typeface="Arial" pitchFamily="34" charset="-122"/>
                <a:cs typeface="Arial" pitchFamily="34" charset="-120"/>
              </a:rPr>
              <a:t>3.55:1</a:t>
            </a:r>
            <a:endParaRPr lang="en-US" sz="3400" dirty="0"/>
          </a:p>
        </p:txBody>
      </p:sp>
      <p:sp>
        <p:nvSpPr>
          <p:cNvPr id="8" name="Shape 6"/>
          <p:cNvSpPr/>
          <p:nvPr/>
        </p:nvSpPr>
        <p:spPr>
          <a:xfrm>
            <a:off x="7178040" y="2395728"/>
            <a:ext cx="457200" cy="457200"/>
          </a:xfrm>
          <a:prstGeom prst="roundRect">
            <a:avLst>
              <a:gd name="adj" fmla="val 14000"/>
            </a:avLst>
          </a:prstGeom>
          <a:solidFill>
            <a:srgbClr val="FF3B30"/>
          </a:solidFill>
          <a:ln/>
        </p:spPr>
      </p:sp>
      <p:sp>
        <p:nvSpPr>
          <p:cNvPr id="9" name="Text 7"/>
          <p:cNvSpPr txBox="1"/>
          <p:nvPr/>
        </p:nvSpPr>
        <p:spPr>
          <a:xfrm>
            <a:off x="5349240" y="2907792"/>
            <a:ext cx="2377440" cy="594360"/>
          </a:xfrm>
          <a:prstGeom prst="rect">
            <a:avLst/>
          </a:prstGeom>
          <a:noFill/>
          <a:ln/>
        </p:spPr>
        <p:txBody>
          <a:bodyPr wrap="square" lIns="0" tIns="0" rIns="0" bIns="0" rtlCol="0" anchor="ctr"/>
          <a:lstStyle/>
          <a:p>
            <a:pPr indent="0" marL="0">
              <a:lnSpc>
                <a:spcPts val="1500"/>
              </a:lnSpc>
              <a:buNone/>
            </a:pPr>
            <a:r>
              <a:rPr lang="en-US" sz="1100" dirty="0">
                <a:solidFill>
                  <a:srgbClr val="B8B8B8"/>
                </a:solidFill>
                <a:latin typeface="Arial" pitchFamily="34" charset="0"/>
                <a:ea typeface="Arial" pitchFamily="34" charset="-122"/>
                <a:cs typeface="Arial" pitchFamily="34" charset="-120"/>
              </a:rPr>
              <a:t>Failed as text, and failed with white on top of it. Failed either way.</a:t>
            </a:r>
            <a:endParaRPr lang="en-US" sz="1100" dirty="0"/>
          </a:p>
        </p:txBody>
      </p:sp>
      <p:sp>
        <p:nvSpPr>
          <p:cNvPr id="10" name="Shape 8"/>
          <p:cNvSpPr/>
          <p:nvPr/>
        </p:nvSpPr>
        <p:spPr>
          <a:xfrm rot="5400000">
            <a:off x="8074152" y="2542032"/>
            <a:ext cx="274320" cy="310896"/>
          </a:xfrm>
          <a:prstGeom prst="triangle">
            <a:avLst/>
          </a:prstGeom>
          <a:solidFill>
            <a:srgbClr val="FFD400"/>
          </a:solidFill>
          <a:ln/>
        </p:spPr>
      </p:sp>
      <p:sp>
        <p:nvSpPr>
          <p:cNvPr id="11" name="Shape 9"/>
          <p:cNvSpPr/>
          <p:nvPr/>
        </p:nvSpPr>
        <p:spPr>
          <a:xfrm>
            <a:off x="8503920" y="1920240"/>
            <a:ext cx="2880360" cy="1600200"/>
          </a:xfrm>
          <a:prstGeom prst="roundRect">
            <a:avLst>
              <a:gd name="adj" fmla="val 6857"/>
            </a:avLst>
          </a:prstGeom>
          <a:solidFill>
            <a:srgbClr val="141414"/>
          </a:solidFill>
          <a:ln w="12700">
            <a:solidFill>
              <a:srgbClr val="2A4A35"/>
            </a:solidFill>
            <a:prstDash val="solid"/>
          </a:ln>
        </p:spPr>
      </p:sp>
      <p:sp>
        <p:nvSpPr>
          <p:cNvPr id="12" name="Text 10"/>
          <p:cNvSpPr txBox="1"/>
          <p:nvPr/>
        </p:nvSpPr>
        <p:spPr>
          <a:xfrm>
            <a:off x="8732520" y="2057400"/>
            <a:ext cx="2377440" cy="274320"/>
          </a:xfrm>
          <a:prstGeom prst="rect">
            <a:avLst/>
          </a:prstGeom>
          <a:noFill/>
          <a:ln/>
        </p:spPr>
        <p:txBody>
          <a:bodyPr wrap="square" lIns="0" tIns="0" rIns="0" bIns="0" rtlCol="0" anchor="ctr"/>
          <a:lstStyle/>
          <a:p>
            <a:pPr indent="0" marL="0">
              <a:buNone/>
            </a:pPr>
            <a:r>
              <a:rPr lang="en-US" sz="1000" b="1" spc="150" kern="0" dirty="0">
                <a:solidFill>
                  <a:srgbClr val="B8B8B8"/>
                </a:solidFill>
                <a:latin typeface="Arial" pitchFamily="34" charset="0"/>
                <a:ea typeface="Arial" pitchFamily="34" charset="-122"/>
                <a:cs typeface="Arial" pitchFamily="34" charset="-120"/>
              </a:rPr>
              <a:t>AFTER</a:t>
            </a:r>
            <a:endParaRPr lang="en-US" sz="1000" dirty="0"/>
          </a:p>
        </p:txBody>
      </p:sp>
      <p:sp>
        <p:nvSpPr>
          <p:cNvPr id="13" name="Text 11"/>
          <p:cNvSpPr txBox="1"/>
          <p:nvPr/>
        </p:nvSpPr>
        <p:spPr>
          <a:xfrm>
            <a:off x="8732520" y="2304288"/>
            <a:ext cx="1554480" cy="548640"/>
          </a:xfrm>
          <a:prstGeom prst="rect">
            <a:avLst/>
          </a:prstGeom>
          <a:noFill/>
          <a:ln/>
        </p:spPr>
        <p:txBody>
          <a:bodyPr wrap="square" lIns="0" tIns="0" rIns="0" bIns="0" rtlCol="0" anchor="ctr"/>
          <a:lstStyle/>
          <a:p>
            <a:pPr indent="0" marL="0">
              <a:buNone/>
            </a:pPr>
            <a:r>
              <a:rPr lang="en-US" sz="3400" b="1" dirty="0">
                <a:solidFill>
                  <a:srgbClr val="3FBF6A"/>
                </a:solidFill>
                <a:latin typeface="Arial" pitchFamily="34" charset="0"/>
                <a:ea typeface="Arial" pitchFamily="34" charset="-122"/>
                <a:cs typeface="Arial" pitchFamily="34" charset="-120"/>
              </a:rPr>
              <a:t>6.22:1</a:t>
            </a:r>
            <a:endParaRPr lang="en-US" sz="3400" dirty="0"/>
          </a:p>
        </p:txBody>
      </p:sp>
      <p:sp>
        <p:nvSpPr>
          <p:cNvPr id="14" name="Shape 12"/>
          <p:cNvSpPr/>
          <p:nvPr/>
        </p:nvSpPr>
        <p:spPr>
          <a:xfrm>
            <a:off x="10607040" y="2395728"/>
            <a:ext cx="457200" cy="457200"/>
          </a:xfrm>
          <a:prstGeom prst="roundRect">
            <a:avLst>
              <a:gd name="adj" fmla="val 14000"/>
            </a:avLst>
          </a:prstGeom>
          <a:solidFill>
            <a:srgbClr val="C1121F"/>
          </a:solidFill>
          <a:ln/>
        </p:spPr>
      </p:sp>
      <p:sp>
        <p:nvSpPr>
          <p:cNvPr id="15" name="Text 13"/>
          <p:cNvSpPr txBox="1"/>
          <p:nvPr/>
        </p:nvSpPr>
        <p:spPr>
          <a:xfrm>
            <a:off x="8732520" y="2907792"/>
            <a:ext cx="2377440" cy="594360"/>
          </a:xfrm>
          <a:prstGeom prst="rect">
            <a:avLst/>
          </a:prstGeom>
          <a:noFill/>
          <a:ln/>
        </p:spPr>
        <p:txBody>
          <a:bodyPr wrap="square" lIns="0" tIns="0" rIns="0" bIns="0" rtlCol="0" anchor="ctr"/>
          <a:lstStyle/>
          <a:p>
            <a:pPr indent="0" marL="0">
              <a:lnSpc>
                <a:spcPts val="1500"/>
              </a:lnSpc>
              <a:buNone/>
            </a:pPr>
            <a:r>
              <a:rPr lang="en-US" sz="1100" dirty="0">
                <a:solidFill>
                  <a:srgbClr val="B8B8B8"/>
                </a:solidFill>
                <a:latin typeface="Arial" pitchFamily="34" charset="0"/>
                <a:ea typeface="Arial" pitchFamily="34" charset="-122"/>
                <a:cs typeface="Arial" pitchFamily="34" charset="-120"/>
              </a:rPr>
              <a:t>Passes as text, and white on it passes too.</a:t>
            </a:r>
            <a:endParaRPr lang="en-US" sz="1100" dirty="0"/>
          </a:p>
        </p:txBody>
      </p:sp>
      <p:sp>
        <p:nvSpPr>
          <p:cNvPr id="16" name="Text 14"/>
          <p:cNvSpPr txBox="1"/>
          <p:nvPr/>
        </p:nvSpPr>
        <p:spPr>
          <a:xfrm>
            <a:off x="822960" y="3977640"/>
            <a:ext cx="4114800" cy="82296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Arial" pitchFamily="34" charset="0"/>
                <a:ea typeface="Arial" pitchFamily="34" charset="-122"/>
                <a:cs typeface="Arial" pitchFamily="34" charset="-120"/>
              </a:rPr>
              <a:t>The border around inputs in the high-contrast theme</a:t>
            </a:r>
            <a:endParaRPr lang="en-US" sz="1500" dirty="0"/>
          </a:p>
        </p:txBody>
      </p:sp>
      <p:sp>
        <p:nvSpPr>
          <p:cNvPr id="17" name="Shape 15"/>
          <p:cNvSpPr/>
          <p:nvPr/>
        </p:nvSpPr>
        <p:spPr>
          <a:xfrm>
            <a:off x="5120640" y="3886200"/>
            <a:ext cx="2834640" cy="1600200"/>
          </a:xfrm>
          <a:prstGeom prst="roundRect">
            <a:avLst>
              <a:gd name="adj" fmla="val 6857"/>
            </a:avLst>
          </a:prstGeom>
          <a:solidFill>
            <a:srgbClr val="141414"/>
          </a:solidFill>
          <a:ln w="12700">
            <a:solidFill>
              <a:srgbClr val="4A2A2E"/>
            </a:solidFill>
            <a:prstDash val="solid"/>
          </a:ln>
        </p:spPr>
      </p:sp>
      <p:sp>
        <p:nvSpPr>
          <p:cNvPr id="18" name="Text 16"/>
          <p:cNvSpPr txBox="1"/>
          <p:nvPr/>
        </p:nvSpPr>
        <p:spPr>
          <a:xfrm>
            <a:off x="5349240" y="4023360"/>
            <a:ext cx="2377440" cy="274320"/>
          </a:xfrm>
          <a:prstGeom prst="rect">
            <a:avLst/>
          </a:prstGeom>
          <a:noFill/>
          <a:ln/>
        </p:spPr>
        <p:txBody>
          <a:bodyPr wrap="square" lIns="0" tIns="0" rIns="0" bIns="0" rtlCol="0" anchor="ctr"/>
          <a:lstStyle/>
          <a:p>
            <a:pPr indent="0" marL="0">
              <a:buNone/>
            </a:pPr>
            <a:r>
              <a:rPr lang="en-US" sz="1000" b="1" spc="150" kern="0" dirty="0">
                <a:solidFill>
                  <a:srgbClr val="B8B8B8"/>
                </a:solidFill>
                <a:latin typeface="Arial" pitchFamily="34" charset="0"/>
                <a:ea typeface="Arial" pitchFamily="34" charset="-122"/>
                <a:cs typeface="Arial" pitchFamily="34" charset="-120"/>
              </a:rPr>
              <a:t>BEFORE</a:t>
            </a:r>
            <a:endParaRPr lang="en-US" sz="1000" dirty="0"/>
          </a:p>
        </p:txBody>
      </p:sp>
      <p:sp>
        <p:nvSpPr>
          <p:cNvPr id="19" name="Text 17"/>
          <p:cNvSpPr txBox="1"/>
          <p:nvPr/>
        </p:nvSpPr>
        <p:spPr>
          <a:xfrm>
            <a:off x="5349240" y="4270248"/>
            <a:ext cx="1554480" cy="548640"/>
          </a:xfrm>
          <a:prstGeom prst="rect">
            <a:avLst/>
          </a:prstGeom>
          <a:noFill/>
          <a:ln/>
        </p:spPr>
        <p:txBody>
          <a:bodyPr wrap="square" lIns="0" tIns="0" rIns="0" bIns="0" rtlCol="0" anchor="ctr"/>
          <a:lstStyle/>
          <a:p>
            <a:pPr indent="0" marL="0">
              <a:buNone/>
            </a:pPr>
            <a:r>
              <a:rPr lang="en-US" sz="3400" b="1" dirty="0">
                <a:solidFill>
                  <a:srgbClr val="E05561"/>
                </a:solidFill>
                <a:latin typeface="Arial" pitchFamily="34" charset="0"/>
                <a:ea typeface="Arial" pitchFamily="34" charset="-122"/>
                <a:cs typeface="Arial" pitchFamily="34" charset="-120"/>
              </a:rPr>
              <a:t>1.66:1</a:t>
            </a:r>
            <a:endParaRPr lang="en-US" sz="3400" dirty="0"/>
          </a:p>
        </p:txBody>
      </p:sp>
      <p:sp>
        <p:nvSpPr>
          <p:cNvPr id="20" name="Shape 18"/>
          <p:cNvSpPr/>
          <p:nvPr/>
        </p:nvSpPr>
        <p:spPr>
          <a:xfrm>
            <a:off x="7178040" y="4361688"/>
            <a:ext cx="457200" cy="457200"/>
          </a:xfrm>
          <a:prstGeom prst="roundRect">
            <a:avLst>
              <a:gd name="adj" fmla="val 14000"/>
            </a:avLst>
          </a:prstGeom>
          <a:solidFill>
            <a:srgbClr val="333333"/>
          </a:solidFill>
          <a:ln/>
        </p:spPr>
      </p:sp>
      <p:sp>
        <p:nvSpPr>
          <p:cNvPr id="21" name="Text 19"/>
          <p:cNvSpPr txBox="1"/>
          <p:nvPr/>
        </p:nvSpPr>
        <p:spPr>
          <a:xfrm>
            <a:off x="5349240" y="4873752"/>
            <a:ext cx="2377440" cy="594360"/>
          </a:xfrm>
          <a:prstGeom prst="rect">
            <a:avLst/>
          </a:prstGeom>
          <a:noFill/>
          <a:ln/>
        </p:spPr>
        <p:txBody>
          <a:bodyPr wrap="square" lIns="0" tIns="0" rIns="0" bIns="0" rtlCol="0" anchor="ctr"/>
          <a:lstStyle/>
          <a:p>
            <a:pPr indent="0" marL="0">
              <a:lnSpc>
                <a:spcPts val="1500"/>
              </a:lnSpc>
              <a:buNone/>
            </a:pPr>
            <a:r>
              <a:rPr lang="en-US" sz="1100" dirty="0">
                <a:solidFill>
                  <a:srgbClr val="B8B8B8"/>
                </a:solidFill>
                <a:latin typeface="Arial" pitchFamily="34" charset="0"/>
                <a:ea typeface="Arial" pitchFamily="34" charset="-122"/>
                <a:cs typeface="Arial" pitchFamily="34" charset="-120"/>
              </a:rPr>
              <a:t>You could not see where a control started or ended.</a:t>
            </a:r>
            <a:endParaRPr lang="en-US" sz="1100" dirty="0"/>
          </a:p>
        </p:txBody>
      </p:sp>
      <p:sp>
        <p:nvSpPr>
          <p:cNvPr id="22" name="Shape 20"/>
          <p:cNvSpPr/>
          <p:nvPr/>
        </p:nvSpPr>
        <p:spPr>
          <a:xfrm rot="5400000">
            <a:off x="8074152" y="4507992"/>
            <a:ext cx="274320" cy="310896"/>
          </a:xfrm>
          <a:prstGeom prst="triangle">
            <a:avLst/>
          </a:prstGeom>
          <a:solidFill>
            <a:srgbClr val="FFD400"/>
          </a:solidFill>
          <a:ln/>
        </p:spPr>
      </p:sp>
      <p:sp>
        <p:nvSpPr>
          <p:cNvPr id="23" name="Shape 21"/>
          <p:cNvSpPr/>
          <p:nvPr/>
        </p:nvSpPr>
        <p:spPr>
          <a:xfrm>
            <a:off x="8503920" y="3886200"/>
            <a:ext cx="2880360" cy="1600200"/>
          </a:xfrm>
          <a:prstGeom prst="roundRect">
            <a:avLst>
              <a:gd name="adj" fmla="val 6857"/>
            </a:avLst>
          </a:prstGeom>
          <a:solidFill>
            <a:srgbClr val="141414"/>
          </a:solidFill>
          <a:ln w="12700">
            <a:solidFill>
              <a:srgbClr val="2A4A35"/>
            </a:solidFill>
            <a:prstDash val="solid"/>
          </a:ln>
        </p:spPr>
      </p:sp>
      <p:sp>
        <p:nvSpPr>
          <p:cNvPr id="24" name="Text 22"/>
          <p:cNvSpPr txBox="1"/>
          <p:nvPr/>
        </p:nvSpPr>
        <p:spPr>
          <a:xfrm>
            <a:off x="8732520" y="4023360"/>
            <a:ext cx="2377440" cy="274320"/>
          </a:xfrm>
          <a:prstGeom prst="rect">
            <a:avLst/>
          </a:prstGeom>
          <a:noFill/>
          <a:ln/>
        </p:spPr>
        <p:txBody>
          <a:bodyPr wrap="square" lIns="0" tIns="0" rIns="0" bIns="0" rtlCol="0" anchor="ctr"/>
          <a:lstStyle/>
          <a:p>
            <a:pPr indent="0" marL="0">
              <a:buNone/>
            </a:pPr>
            <a:r>
              <a:rPr lang="en-US" sz="1000" b="1" spc="150" kern="0" dirty="0">
                <a:solidFill>
                  <a:srgbClr val="B8B8B8"/>
                </a:solidFill>
                <a:latin typeface="Arial" pitchFamily="34" charset="0"/>
                <a:ea typeface="Arial" pitchFamily="34" charset="-122"/>
                <a:cs typeface="Arial" pitchFamily="34" charset="-120"/>
              </a:rPr>
              <a:t>AFTER</a:t>
            </a:r>
            <a:endParaRPr lang="en-US" sz="1000" dirty="0"/>
          </a:p>
        </p:txBody>
      </p:sp>
      <p:sp>
        <p:nvSpPr>
          <p:cNvPr id="25" name="Text 23"/>
          <p:cNvSpPr txBox="1"/>
          <p:nvPr/>
        </p:nvSpPr>
        <p:spPr>
          <a:xfrm>
            <a:off x="8732520" y="4270248"/>
            <a:ext cx="1554480" cy="548640"/>
          </a:xfrm>
          <a:prstGeom prst="rect">
            <a:avLst/>
          </a:prstGeom>
          <a:noFill/>
          <a:ln/>
        </p:spPr>
        <p:txBody>
          <a:bodyPr wrap="square" lIns="0" tIns="0" rIns="0" bIns="0" rtlCol="0" anchor="ctr"/>
          <a:lstStyle/>
          <a:p>
            <a:pPr indent="0" marL="0">
              <a:buNone/>
            </a:pPr>
            <a:r>
              <a:rPr lang="en-US" sz="3400" b="1" dirty="0">
                <a:solidFill>
                  <a:srgbClr val="3FBF6A"/>
                </a:solidFill>
                <a:latin typeface="Arial" pitchFamily="34" charset="0"/>
                <a:ea typeface="Arial" pitchFamily="34" charset="-122"/>
                <a:cs typeface="Arial" pitchFamily="34" charset="-120"/>
              </a:rPr>
              <a:t>3.94:1</a:t>
            </a:r>
            <a:endParaRPr lang="en-US" sz="3400" dirty="0"/>
          </a:p>
        </p:txBody>
      </p:sp>
      <p:sp>
        <p:nvSpPr>
          <p:cNvPr id="26" name="Shape 24"/>
          <p:cNvSpPr/>
          <p:nvPr/>
        </p:nvSpPr>
        <p:spPr>
          <a:xfrm>
            <a:off x="10607040" y="4361688"/>
            <a:ext cx="457200" cy="457200"/>
          </a:xfrm>
          <a:prstGeom prst="roundRect">
            <a:avLst>
              <a:gd name="adj" fmla="val 14000"/>
            </a:avLst>
          </a:prstGeom>
          <a:solidFill>
            <a:srgbClr val="6B6B6B"/>
          </a:solidFill>
          <a:ln/>
        </p:spPr>
      </p:sp>
      <p:sp>
        <p:nvSpPr>
          <p:cNvPr id="27" name="Text 25"/>
          <p:cNvSpPr txBox="1"/>
          <p:nvPr/>
        </p:nvSpPr>
        <p:spPr>
          <a:xfrm>
            <a:off x="8732520" y="4873752"/>
            <a:ext cx="2377440" cy="594360"/>
          </a:xfrm>
          <a:prstGeom prst="rect">
            <a:avLst/>
          </a:prstGeom>
          <a:noFill/>
          <a:ln/>
        </p:spPr>
        <p:txBody>
          <a:bodyPr wrap="square" lIns="0" tIns="0" rIns="0" bIns="0" rtlCol="0" anchor="ctr"/>
          <a:lstStyle/>
          <a:p>
            <a:pPr indent="0" marL="0">
              <a:lnSpc>
                <a:spcPts val="1500"/>
              </a:lnSpc>
              <a:buNone/>
            </a:pPr>
            <a:r>
              <a:rPr lang="en-US" sz="1100" dirty="0">
                <a:solidFill>
                  <a:srgbClr val="B8B8B8"/>
                </a:solidFill>
                <a:latin typeface="Arial" pitchFamily="34" charset="0"/>
                <a:ea typeface="Arial" pitchFamily="34" charset="-122"/>
                <a:cs typeface="Arial" pitchFamily="34" charset="-120"/>
              </a:rPr>
              <a:t>Clears the 3:1 bar for interactive edges.</a:t>
            </a:r>
            <a:endParaRPr lang="en-US" sz="1100" dirty="0"/>
          </a:p>
        </p:txBody>
      </p:sp>
      <p:sp>
        <p:nvSpPr>
          <p:cNvPr id="28" name="Text 26"/>
          <p:cNvSpPr txBox="1"/>
          <p:nvPr/>
        </p:nvSpPr>
        <p:spPr>
          <a:xfrm>
            <a:off x="822960" y="5989320"/>
            <a:ext cx="10561320" cy="457200"/>
          </a:xfrm>
          <a:prstGeom prst="rect">
            <a:avLst/>
          </a:prstGeom>
          <a:noFill/>
          <a:ln/>
        </p:spPr>
        <p:txBody>
          <a:bodyPr wrap="square" lIns="0" tIns="0" rIns="0" bIns="0" rtlCol="0" anchor="ctr"/>
          <a:lstStyle/>
          <a:p>
            <a:pPr indent="0" marL="0">
              <a:buNone/>
            </a:pPr>
            <a:r>
              <a:rPr lang="en-US" sz="1300" i="1" dirty="0">
                <a:solidFill>
                  <a:srgbClr val="B8B8B8"/>
                </a:solidFill>
                <a:latin typeface="Arial" pitchFamily="34" charset="0"/>
                <a:ea typeface="Arial" pitchFamily="34" charset="-122"/>
                <a:cs typeface="Arial" pitchFamily="34" charset="-120"/>
              </a:rPr>
              <a:t>The ratios are written into the stylesheet as comments, so the next person to touch a colour can see what it has to clear.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Who is holding the phone?</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The app now asks on first run, and changes accordingly</a:t>
            </a:r>
            <a:endParaRPr lang="en-US" sz="1500" dirty="0"/>
          </a:p>
        </p:txBody>
      </p:sp>
      <p:sp>
        <p:nvSpPr>
          <p:cNvPr id="4" name="Shape 2"/>
          <p:cNvSpPr/>
          <p:nvPr/>
        </p:nvSpPr>
        <p:spPr>
          <a:xfrm>
            <a:off x="822960" y="2011680"/>
            <a:ext cx="3291840" cy="2286000"/>
          </a:xfrm>
          <a:prstGeom prst="roundRect">
            <a:avLst>
              <a:gd name="adj" fmla="val 4800"/>
            </a:avLst>
          </a:prstGeom>
          <a:solidFill>
            <a:srgbClr val="141414"/>
          </a:solidFill>
          <a:ln w="12700">
            <a:solidFill>
              <a:srgbClr val="2A3340"/>
            </a:solidFill>
            <a:prstDash val="solid"/>
          </a:ln>
        </p:spPr>
      </p:sp>
      <p:sp>
        <p:nvSpPr>
          <p:cNvPr id="5" name="Shape 3"/>
          <p:cNvSpPr/>
          <p:nvPr/>
        </p:nvSpPr>
        <p:spPr>
          <a:xfrm>
            <a:off x="1143000" y="2331720"/>
            <a:ext cx="457200" cy="457200"/>
          </a:xfrm>
          <a:prstGeom prst="ellipse">
            <a:avLst/>
          </a:prstGeom>
          <a:solidFill>
            <a:srgbClr val="FFD400"/>
          </a:solidFill>
          <a:ln/>
        </p:spPr>
      </p:sp>
      <p:sp>
        <p:nvSpPr>
          <p:cNvPr id="6" name="Text 4"/>
          <p:cNvSpPr txBox="1"/>
          <p:nvPr/>
        </p:nvSpPr>
        <p:spPr>
          <a:xfrm>
            <a:off x="1143000" y="2331720"/>
            <a:ext cx="457200" cy="45720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143000" y="2926080"/>
            <a:ext cx="2697480" cy="365760"/>
          </a:xfrm>
          <a:prstGeom prst="rect">
            <a:avLst/>
          </a:prstGeom>
          <a:noFill/>
          <a:ln/>
        </p:spPr>
        <p:txBody>
          <a:bodyPr wrap="square" lIns="0" tIns="0" rIns="0" bIns="0" rtlCol="0" anchor="ctr"/>
          <a:lstStyle/>
          <a:p>
            <a:pPr indent="0" marL="0">
              <a:buNone/>
            </a:pPr>
            <a:r>
              <a:rPr lang="en-US" sz="1800" b="1" dirty="0">
                <a:solidFill>
                  <a:srgbClr val="FFD400"/>
                </a:solidFill>
                <a:latin typeface="Arial" pitchFamily="34" charset="0"/>
                <a:ea typeface="Arial" pitchFamily="34" charset="-122"/>
                <a:cs typeface="Arial" pitchFamily="34" charset="-120"/>
              </a:rPr>
              <a:t>Blind / low vision</a:t>
            </a:r>
            <a:endParaRPr lang="en-US" sz="1800" dirty="0"/>
          </a:p>
        </p:txBody>
      </p:sp>
      <p:sp>
        <p:nvSpPr>
          <p:cNvPr id="8" name="Text 6"/>
          <p:cNvSpPr txBox="1"/>
          <p:nvPr/>
        </p:nvSpPr>
        <p:spPr>
          <a:xfrm>
            <a:off x="1143000" y="3364992"/>
            <a:ext cx="2697480" cy="82296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The wearer. Gets the high-contrast</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theme, bigger targets, and the</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voice-first flow by default.</a:t>
            </a:r>
            <a:endParaRPr lang="en-US" sz="1250" dirty="0"/>
          </a:p>
        </p:txBody>
      </p:sp>
      <p:sp>
        <p:nvSpPr>
          <p:cNvPr id="9" name="Shape 7"/>
          <p:cNvSpPr/>
          <p:nvPr/>
        </p:nvSpPr>
        <p:spPr>
          <a:xfrm>
            <a:off x="4480560" y="2011680"/>
            <a:ext cx="3291840" cy="2286000"/>
          </a:xfrm>
          <a:prstGeom prst="roundRect">
            <a:avLst>
              <a:gd name="adj" fmla="val 4800"/>
            </a:avLst>
          </a:prstGeom>
          <a:solidFill>
            <a:srgbClr val="141414"/>
          </a:solidFill>
          <a:ln w="12700">
            <a:solidFill>
              <a:srgbClr val="2A3340"/>
            </a:solidFill>
            <a:prstDash val="solid"/>
          </a:ln>
        </p:spPr>
      </p:sp>
      <p:sp>
        <p:nvSpPr>
          <p:cNvPr id="10" name="Shape 8"/>
          <p:cNvSpPr/>
          <p:nvPr/>
        </p:nvSpPr>
        <p:spPr>
          <a:xfrm>
            <a:off x="4800600" y="2331720"/>
            <a:ext cx="457200" cy="457200"/>
          </a:xfrm>
          <a:prstGeom prst="ellipse">
            <a:avLst/>
          </a:prstGeom>
          <a:solidFill>
            <a:srgbClr val="FFD400"/>
          </a:solidFill>
          <a:ln/>
        </p:spPr>
      </p:sp>
      <p:sp>
        <p:nvSpPr>
          <p:cNvPr id="11" name="Text 9"/>
          <p:cNvSpPr txBox="1"/>
          <p:nvPr/>
        </p:nvSpPr>
        <p:spPr>
          <a:xfrm>
            <a:off x="4800600" y="2331720"/>
            <a:ext cx="457200" cy="45720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4800600" y="2926080"/>
            <a:ext cx="2697480" cy="365760"/>
          </a:xfrm>
          <a:prstGeom prst="rect">
            <a:avLst/>
          </a:prstGeom>
          <a:noFill/>
          <a:ln/>
        </p:spPr>
        <p:txBody>
          <a:bodyPr wrap="square" lIns="0" tIns="0" rIns="0" bIns="0" rtlCol="0" anchor="ctr"/>
          <a:lstStyle/>
          <a:p>
            <a:pPr indent="0" marL="0">
              <a:buNone/>
            </a:pPr>
            <a:r>
              <a:rPr lang="en-US" sz="1800" b="1" dirty="0">
                <a:solidFill>
                  <a:srgbClr val="FFD400"/>
                </a:solidFill>
                <a:latin typeface="Arial" pitchFamily="34" charset="0"/>
                <a:ea typeface="Arial" pitchFamily="34" charset="-122"/>
                <a:cs typeface="Arial" pitchFamily="34" charset="-120"/>
              </a:rPr>
              <a:t>Guardian</a:t>
            </a:r>
            <a:endParaRPr lang="en-US" sz="1800" dirty="0"/>
          </a:p>
        </p:txBody>
      </p:sp>
      <p:sp>
        <p:nvSpPr>
          <p:cNvPr id="13" name="Text 11"/>
          <p:cNvSpPr txBox="1"/>
          <p:nvPr/>
        </p:nvSpPr>
        <p:spPr>
          <a:xfrm>
            <a:off x="4800600" y="3364992"/>
            <a:ext cx="2697480" cy="82296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The carer. Gets the light theme and</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the screens for requesting access</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to a wearer’s camera.</a:t>
            </a:r>
            <a:endParaRPr lang="en-US" sz="1250" dirty="0"/>
          </a:p>
        </p:txBody>
      </p:sp>
      <p:sp>
        <p:nvSpPr>
          <p:cNvPr id="14" name="Shape 12"/>
          <p:cNvSpPr/>
          <p:nvPr/>
        </p:nvSpPr>
        <p:spPr>
          <a:xfrm>
            <a:off x="8138160" y="2011680"/>
            <a:ext cx="3246120" cy="2286000"/>
          </a:xfrm>
          <a:prstGeom prst="roundRect">
            <a:avLst>
              <a:gd name="adj" fmla="val 4800"/>
            </a:avLst>
          </a:prstGeom>
          <a:solidFill>
            <a:srgbClr val="15202E"/>
          </a:solidFill>
          <a:ln w="12700">
            <a:solidFill>
              <a:srgbClr val="3A5580"/>
            </a:solidFill>
            <a:prstDash val="solid"/>
          </a:ln>
        </p:spPr>
      </p:sp>
      <p:sp>
        <p:nvSpPr>
          <p:cNvPr id="15" name="Text 13"/>
          <p:cNvSpPr txBox="1"/>
          <p:nvPr/>
        </p:nvSpPr>
        <p:spPr>
          <a:xfrm>
            <a:off x="8458200" y="2331720"/>
            <a:ext cx="265176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Signing in is optional</a:t>
            </a:r>
            <a:endParaRPr lang="en-US" sz="1800" dirty="0"/>
          </a:p>
        </p:txBody>
      </p:sp>
      <p:sp>
        <p:nvSpPr>
          <p:cNvPr id="16" name="Text 14"/>
          <p:cNvSpPr txBox="1"/>
          <p:nvPr/>
        </p:nvSpPr>
        <p:spPr>
          <a:xfrm>
            <a:off x="8458200" y="2834640"/>
            <a:ext cx="2651760" cy="132588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There is a Cognito account system now — it links a wearer to a guardian and syncs settings across devices.</a:t>
            </a:r>
            <a:endParaRPr lang="en-US" sz="1250" dirty="0"/>
          </a:p>
          <a:p>
            <a:pPr indent="0" marL="0">
              <a:lnSpc>
                <a:spcPts val="1700"/>
              </a:lnSpc>
              <a:buNone/>
            </a:pP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But "continue as guest" is on every auth screen and always will be.</a:t>
            </a:r>
            <a:endParaRPr lang="en-US" sz="1250" dirty="0"/>
          </a:p>
        </p:txBody>
      </p:sp>
      <p:sp>
        <p:nvSpPr>
          <p:cNvPr id="17" name="Text 15"/>
          <p:cNvSpPr txBox="1"/>
          <p:nvPr/>
        </p:nvSpPr>
        <p:spPr>
          <a:xfrm>
            <a:off x="822960" y="4892040"/>
            <a:ext cx="10561320" cy="548640"/>
          </a:xfrm>
          <a:prstGeom prst="rect">
            <a:avLst/>
          </a:prstGeom>
          <a:noFill/>
          <a:ln/>
        </p:spPr>
        <p:txBody>
          <a:bodyPr wrap="square" lIns="0" tIns="0" rIns="0" bIns="0" rtlCol="0" anchor="ctr"/>
          <a:lstStyle/>
          <a:p>
            <a:pPr indent="0" marL="0">
              <a:lnSpc>
                <a:spcPts val="2600"/>
              </a:lnSpc>
              <a:buNone/>
            </a:pPr>
            <a:r>
              <a:rPr lang="en-US" sz="1900" i="1" dirty="0">
                <a:solidFill>
                  <a:srgbClr val="FFD400"/>
                </a:solidFill>
                <a:latin typeface="Arial" pitchFamily="34" charset="0"/>
                <a:ea typeface="Arial" pitchFamily="34" charset="-122"/>
                <a:cs typeface="Arial" pitchFamily="34" charset="-120"/>
              </a:rPr>
              <a:t>If you must make an account before the app will tell you what is in front of you, it has failed.</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A guardian cannot just look</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Consent is a state machine on the server, not a checkbox in the UI</a:t>
            </a:r>
            <a:endParaRPr lang="en-US" sz="1500" dirty="0"/>
          </a:p>
        </p:txBody>
      </p:sp>
      <p:sp>
        <p:nvSpPr>
          <p:cNvPr id="4" name="Shape 2"/>
          <p:cNvSpPr/>
          <p:nvPr/>
        </p:nvSpPr>
        <p:spPr>
          <a:xfrm>
            <a:off x="540868" y="2103120"/>
            <a:ext cx="2468880" cy="1783080"/>
          </a:xfrm>
          <a:prstGeom prst="roundRect">
            <a:avLst>
              <a:gd name="adj" fmla="val 6154"/>
            </a:avLst>
          </a:prstGeom>
          <a:solidFill>
            <a:srgbClr val="141414"/>
          </a:solidFill>
          <a:ln w="12700">
            <a:solidFill>
              <a:srgbClr val="2A3340"/>
            </a:solidFill>
            <a:prstDash val="solid"/>
          </a:ln>
        </p:spPr>
      </p:sp>
      <p:sp>
        <p:nvSpPr>
          <p:cNvPr id="5" name="Shape 3"/>
          <p:cNvSpPr/>
          <p:nvPr/>
        </p:nvSpPr>
        <p:spPr>
          <a:xfrm>
            <a:off x="833476" y="2395728"/>
            <a:ext cx="237744" cy="237744"/>
          </a:xfrm>
          <a:prstGeom prst="ellipse">
            <a:avLst/>
          </a:prstGeom>
          <a:solidFill>
            <a:srgbClr val="B8B8B8"/>
          </a:solidFill>
          <a:ln/>
        </p:spPr>
      </p:sp>
      <p:sp>
        <p:nvSpPr>
          <p:cNvPr id="6" name="Text 4"/>
          <p:cNvSpPr txBox="1"/>
          <p:nvPr/>
        </p:nvSpPr>
        <p:spPr>
          <a:xfrm>
            <a:off x="1180948" y="2331720"/>
            <a:ext cx="1645920" cy="365760"/>
          </a:xfrm>
          <a:prstGeom prst="rect">
            <a:avLst/>
          </a:prstGeom>
          <a:noFill/>
          <a:ln/>
        </p:spPr>
        <p:txBody>
          <a:bodyPr wrap="square" lIns="0" tIns="0" rIns="0" bIns="0" rtlCol="0" anchor="ctr"/>
          <a:lstStyle/>
          <a:p>
            <a:pPr indent="0" marL="0">
              <a:buNone/>
            </a:pPr>
            <a:r>
              <a:rPr lang="en-US" sz="1900" b="1" dirty="0">
                <a:solidFill>
                  <a:srgbClr val="B8B8B8"/>
                </a:solidFill>
                <a:latin typeface="Arial" pitchFamily="34" charset="0"/>
                <a:ea typeface="Arial" pitchFamily="34" charset="-122"/>
                <a:cs typeface="Arial" pitchFamily="34" charset="-120"/>
              </a:rPr>
              <a:t>idle</a:t>
            </a:r>
            <a:endParaRPr lang="en-US" sz="1900" dirty="0"/>
          </a:p>
        </p:txBody>
      </p:sp>
      <p:sp>
        <p:nvSpPr>
          <p:cNvPr id="7" name="Text 5"/>
          <p:cNvSpPr txBox="1"/>
          <p:nvPr/>
        </p:nvSpPr>
        <p:spPr>
          <a:xfrm>
            <a:off x="833476" y="2880360"/>
            <a:ext cx="1883664" cy="73152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Session exists.</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Nothing shared.</a:t>
            </a:r>
            <a:endParaRPr lang="en-US" sz="1250" dirty="0"/>
          </a:p>
        </p:txBody>
      </p:sp>
      <p:sp>
        <p:nvSpPr>
          <p:cNvPr id="8" name="Shape 6"/>
          <p:cNvSpPr/>
          <p:nvPr/>
        </p:nvSpPr>
        <p:spPr>
          <a:xfrm rot="5400000">
            <a:off x="3082900" y="2816352"/>
            <a:ext cx="274320" cy="310896"/>
          </a:xfrm>
          <a:prstGeom prst="triangle">
            <a:avLst/>
          </a:prstGeom>
          <a:solidFill>
            <a:srgbClr val="FFD400"/>
          </a:solidFill>
          <a:ln/>
        </p:spPr>
      </p:sp>
      <p:sp>
        <p:nvSpPr>
          <p:cNvPr id="9" name="Shape 7"/>
          <p:cNvSpPr/>
          <p:nvPr/>
        </p:nvSpPr>
        <p:spPr>
          <a:xfrm>
            <a:off x="3421228" y="2103120"/>
            <a:ext cx="2468880" cy="1783080"/>
          </a:xfrm>
          <a:prstGeom prst="roundRect">
            <a:avLst>
              <a:gd name="adj" fmla="val 6154"/>
            </a:avLst>
          </a:prstGeom>
          <a:solidFill>
            <a:srgbClr val="141414"/>
          </a:solidFill>
          <a:ln w="12700">
            <a:solidFill>
              <a:srgbClr val="2A3340"/>
            </a:solidFill>
            <a:prstDash val="solid"/>
          </a:ln>
        </p:spPr>
      </p:sp>
      <p:sp>
        <p:nvSpPr>
          <p:cNvPr id="10" name="Shape 8"/>
          <p:cNvSpPr/>
          <p:nvPr/>
        </p:nvSpPr>
        <p:spPr>
          <a:xfrm>
            <a:off x="3713836" y="2395728"/>
            <a:ext cx="237744" cy="237744"/>
          </a:xfrm>
          <a:prstGeom prst="ellipse">
            <a:avLst/>
          </a:prstGeom>
          <a:solidFill>
            <a:srgbClr val="E8930C"/>
          </a:solidFill>
          <a:ln/>
        </p:spPr>
      </p:sp>
      <p:sp>
        <p:nvSpPr>
          <p:cNvPr id="11" name="Text 9"/>
          <p:cNvSpPr txBox="1"/>
          <p:nvPr/>
        </p:nvSpPr>
        <p:spPr>
          <a:xfrm>
            <a:off x="4061308" y="2331720"/>
            <a:ext cx="1645920" cy="365760"/>
          </a:xfrm>
          <a:prstGeom prst="rect">
            <a:avLst/>
          </a:prstGeom>
          <a:noFill/>
          <a:ln/>
        </p:spPr>
        <p:txBody>
          <a:bodyPr wrap="square" lIns="0" tIns="0" rIns="0" bIns="0" rtlCol="0" anchor="ctr"/>
          <a:lstStyle/>
          <a:p>
            <a:pPr indent="0" marL="0">
              <a:buNone/>
            </a:pPr>
            <a:r>
              <a:rPr lang="en-US" sz="1900" b="1" dirty="0">
                <a:solidFill>
                  <a:srgbClr val="E8930C"/>
                </a:solidFill>
                <a:latin typeface="Arial" pitchFamily="34" charset="0"/>
                <a:ea typeface="Arial" pitchFamily="34" charset="-122"/>
                <a:cs typeface="Arial" pitchFamily="34" charset="-120"/>
              </a:rPr>
              <a:t>pending</a:t>
            </a:r>
            <a:endParaRPr lang="en-US" sz="1900" dirty="0"/>
          </a:p>
        </p:txBody>
      </p:sp>
      <p:sp>
        <p:nvSpPr>
          <p:cNvPr id="12" name="Text 10"/>
          <p:cNvSpPr txBox="1"/>
          <p:nvPr/>
        </p:nvSpPr>
        <p:spPr>
          <a:xfrm>
            <a:off x="3713836" y="2880360"/>
            <a:ext cx="1883664" cy="73152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Guardian asked.</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Wearer is told.</a:t>
            </a:r>
            <a:endParaRPr lang="en-US" sz="1250" dirty="0"/>
          </a:p>
        </p:txBody>
      </p:sp>
      <p:sp>
        <p:nvSpPr>
          <p:cNvPr id="13" name="Shape 11"/>
          <p:cNvSpPr/>
          <p:nvPr/>
        </p:nvSpPr>
        <p:spPr>
          <a:xfrm rot="5400000">
            <a:off x="5963260" y="2816352"/>
            <a:ext cx="274320" cy="310896"/>
          </a:xfrm>
          <a:prstGeom prst="triangle">
            <a:avLst/>
          </a:prstGeom>
          <a:solidFill>
            <a:srgbClr val="FFD400"/>
          </a:solidFill>
          <a:ln/>
        </p:spPr>
      </p:sp>
      <p:sp>
        <p:nvSpPr>
          <p:cNvPr id="14" name="Shape 12"/>
          <p:cNvSpPr/>
          <p:nvPr/>
        </p:nvSpPr>
        <p:spPr>
          <a:xfrm>
            <a:off x="6301588" y="2103120"/>
            <a:ext cx="2468880" cy="1783080"/>
          </a:xfrm>
          <a:prstGeom prst="roundRect">
            <a:avLst>
              <a:gd name="adj" fmla="val 6154"/>
            </a:avLst>
          </a:prstGeom>
          <a:solidFill>
            <a:srgbClr val="141414"/>
          </a:solidFill>
          <a:ln w="12700">
            <a:solidFill>
              <a:srgbClr val="2A3340"/>
            </a:solidFill>
            <a:prstDash val="solid"/>
          </a:ln>
        </p:spPr>
      </p:sp>
      <p:sp>
        <p:nvSpPr>
          <p:cNvPr id="15" name="Shape 13"/>
          <p:cNvSpPr/>
          <p:nvPr/>
        </p:nvSpPr>
        <p:spPr>
          <a:xfrm>
            <a:off x="6594196" y="2395728"/>
            <a:ext cx="237744" cy="237744"/>
          </a:xfrm>
          <a:prstGeom prst="ellipse">
            <a:avLst/>
          </a:prstGeom>
          <a:solidFill>
            <a:srgbClr val="3FBF6A"/>
          </a:solidFill>
          <a:ln/>
        </p:spPr>
      </p:sp>
      <p:sp>
        <p:nvSpPr>
          <p:cNvPr id="16" name="Text 14"/>
          <p:cNvSpPr txBox="1"/>
          <p:nvPr/>
        </p:nvSpPr>
        <p:spPr>
          <a:xfrm>
            <a:off x="6941668" y="2331720"/>
            <a:ext cx="1645920" cy="365760"/>
          </a:xfrm>
          <a:prstGeom prst="rect">
            <a:avLst/>
          </a:prstGeom>
          <a:noFill/>
          <a:ln/>
        </p:spPr>
        <p:txBody>
          <a:bodyPr wrap="square" lIns="0" tIns="0" rIns="0" bIns="0" rtlCol="0" anchor="ctr"/>
          <a:lstStyle/>
          <a:p>
            <a:pPr indent="0" marL="0">
              <a:buNone/>
            </a:pPr>
            <a:r>
              <a:rPr lang="en-US" sz="1900" b="1" dirty="0">
                <a:solidFill>
                  <a:srgbClr val="3FBF6A"/>
                </a:solidFill>
                <a:latin typeface="Arial" pitchFamily="34" charset="0"/>
                <a:ea typeface="Arial" pitchFamily="34" charset="-122"/>
                <a:cs typeface="Arial" pitchFamily="34" charset="-120"/>
              </a:rPr>
              <a:t>approved</a:t>
            </a:r>
            <a:endParaRPr lang="en-US" sz="1900" dirty="0"/>
          </a:p>
        </p:txBody>
      </p:sp>
      <p:sp>
        <p:nvSpPr>
          <p:cNvPr id="17" name="Text 15"/>
          <p:cNvSpPr txBox="1"/>
          <p:nvPr/>
        </p:nvSpPr>
        <p:spPr>
          <a:xfrm>
            <a:off x="6594196" y="2880360"/>
            <a:ext cx="1883664" cy="73152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Frames flow.</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Wearer can revoke.</a:t>
            </a:r>
            <a:endParaRPr lang="en-US" sz="1250" dirty="0"/>
          </a:p>
        </p:txBody>
      </p:sp>
      <p:sp>
        <p:nvSpPr>
          <p:cNvPr id="18" name="Text 16"/>
          <p:cNvSpPr txBox="1"/>
          <p:nvPr/>
        </p:nvSpPr>
        <p:spPr>
          <a:xfrm>
            <a:off x="8788756" y="2761488"/>
            <a:ext cx="374904" cy="365760"/>
          </a:xfrm>
          <a:prstGeom prst="rect">
            <a:avLst/>
          </a:prstGeom>
          <a:noFill/>
          <a:ln/>
        </p:spPr>
        <p:txBody>
          <a:bodyPr wrap="square" lIns="0" tIns="0" rIns="0" bIns="0" rtlCol="0" anchor="ctr"/>
          <a:lstStyle/>
          <a:p>
            <a:pPr algn="ctr" indent="0" marL="0">
              <a:buNone/>
            </a:pPr>
            <a:r>
              <a:rPr lang="en-US" sz="1400" i="1" dirty="0">
                <a:solidFill>
                  <a:srgbClr val="B8B8B8"/>
                </a:solidFill>
                <a:latin typeface="Arial" pitchFamily="34" charset="0"/>
                <a:ea typeface="Arial" pitchFamily="34" charset="-122"/>
                <a:cs typeface="Arial" pitchFamily="34" charset="-120"/>
              </a:rPr>
              <a:t>or</a:t>
            </a:r>
            <a:endParaRPr lang="en-US" sz="1400" dirty="0"/>
          </a:p>
        </p:txBody>
      </p:sp>
      <p:sp>
        <p:nvSpPr>
          <p:cNvPr id="19" name="Shape 17"/>
          <p:cNvSpPr/>
          <p:nvPr/>
        </p:nvSpPr>
        <p:spPr>
          <a:xfrm>
            <a:off x="9181948" y="2103120"/>
            <a:ext cx="2468880" cy="1783080"/>
          </a:xfrm>
          <a:prstGeom prst="roundRect">
            <a:avLst>
              <a:gd name="adj" fmla="val 6154"/>
            </a:avLst>
          </a:prstGeom>
          <a:solidFill>
            <a:srgbClr val="141414"/>
          </a:solidFill>
          <a:ln w="12700">
            <a:solidFill>
              <a:srgbClr val="2A3340"/>
            </a:solidFill>
            <a:prstDash val="solid"/>
          </a:ln>
        </p:spPr>
      </p:sp>
      <p:sp>
        <p:nvSpPr>
          <p:cNvPr id="20" name="Shape 18"/>
          <p:cNvSpPr/>
          <p:nvPr/>
        </p:nvSpPr>
        <p:spPr>
          <a:xfrm>
            <a:off x="9474556" y="2395728"/>
            <a:ext cx="237744" cy="237744"/>
          </a:xfrm>
          <a:prstGeom prst="ellipse">
            <a:avLst/>
          </a:prstGeom>
          <a:solidFill>
            <a:srgbClr val="E05561"/>
          </a:solidFill>
          <a:ln/>
        </p:spPr>
      </p:sp>
      <p:sp>
        <p:nvSpPr>
          <p:cNvPr id="21" name="Text 19"/>
          <p:cNvSpPr txBox="1"/>
          <p:nvPr/>
        </p:nvSpPr>
        <p:spPr>
          <a:xfrm>
            <a:off x="9822028" y="2331720"/>
            <a:ext cx="1645920" cy="365760"/>
          </a:xfrm>
          <a:prstGeom prst="rect">
            <a:avLst/>
          </a:prstGeom>
          <a:noFill/>
          <a:ln/>
        </p:spPr>
        <p:txBody>
          <a:bodyPr wrap="square" lIns="0" tIns="0" rIns="0" bIns="0" rtlCol="0" anchor="ctr"/>
          <a:lstStyle/>
          <a:p>
            <a:pPr indent="0" marL="0">
              <a:buNone/>
            </a:pPr>
            <a:r>
              <a:rPr lang="en-US" sz="1900" b="1" dirty="0">
                <a:solidFill>
                  <a:srgbClr val="E05561"/>
                </a:solidFill>
                <a:latin typeface="Arial" pitchFamily="34" charset="0"/>
                <a:ea typeface="Arial" pitchFamily="34" charset="-122"/>
                <a:cs typeface="Arial" pitchFamily="34" charset="-120"/>
              </a:rPr>
              <a:t>denied</a:t>
            </a:r>
            <a:endParaRPr lang="en-US" sz="1900" dirty="0"/>
          </a:p>
        </p:txBody>
      </p:sp>
      <p:sp>
        <p:nvSpPr>
          <p:cNvPr id="22" name="Text 20"/>
          <p:cNvSpPr txBox="1"/>
          <p:nvPr/>
        </p:nvSpPr>
        <p:spPr>
          <a:xfrm>
            <a:off x="9474556" y="2880360"/>
            <a:ext cx="1883664" cy="73152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Uploads rejected</a:t>
            </a:r>
            <a:endParaRPr lang="en-US" sz="1250" dirty="0"/>
          </a:p>
          <a:p>
            <a:pPr indent="0" marL="0">
              <a:lnSpc>
                <a:spcPts val="1700"/>
              </a:lnSpc>
              <a:buNone/>
            </a:pPr>
            <a:r>
              <a:rPr lang="en-US" sz="1250" dirty="0">
                <a:solidFill>
                  <a:srgbClr val="B8B8B8"/>
                </a:solidFill>
                <a:latin typeface="Arial" pitchFamily="34" charset="0"/>
                <a:ea typeface="Arial" pitchFamily="34" charset="-122"/>
                <a:cs typeface="Arial" pitchFamily="34" charset="-120"/>
              </a:rPr>
              <a:t>with a 403.</a:t>
            </a:r>
            <a:endParaRPr lang="en-US" sz="1250" dirty="0"/>
          </a:p>
        </p:txBody>
      </p:sp>
      <p:sp>
        <p:nvSpPr>
          <p:cNvPr id="23" name="Shape 21"/>
          <p:cNvSpPr/>
          <p:nvPr/>
        </p:nvSpPr>
        <p:spPr>
          <a:xfrm>
            <a:off x="822960" y="4251960"/>
            <a:ext cx="10561320" cy="1600200"/>
          </a:xfrm>
          <a:prstGeom prst="roundRect">
            <a:avLst>
              <a:gd name="adj" fmla="val 6857"/>
            </a:avLst>
          </a:prstGeom>
          <a:solidFill>
            <a:srgbClr val="1A1206"/>
          </a:solidFill>
          <a:ln w="12700">
            <a:solidFill>
              <a:srgbClr val="6B5410"/>
            </a:solidFill>
            <a:prstDash val="solid"/>
          </a:ln>
        </p:spPr>
      </p:sp>
      <p:sp>
        <p:nvSpPr>
          <p:cNvPr id="24" name="Shape 22"/>
          <p:cNvSpPr/>
          <p:nvPr/>
        </p:nvSpPr>
        <p:spPr>
          <a:xfrm>
            <a:off x="1234440" y="4617720"/>
            <a:ext cx="502920" cy="502920"/>
          </a:xfrm>
          <a:prstGeom prst="ellipse">
            <a:avLst/>
          </a:prstGeom>
          <a:solidFill>
            <a:srgbClr val="FFD400"/>
          </a:solidFill>
          <a:ln/>
        </p:spPr>
      </p:sp>
      <p:sp>
        <p:nvSpPr>
          <p:cNvPr id="25" name="Text 23"/>
          <p:cNvSpPr txBox="1"/>
          <p:nvPr/>
        </p:nvSpPr>
        <p:spPr>
          <a:xfrm>
            <a:off x="1234440" y="4617720"/>
            <a:ext cx="502920" cy="502920"/>
          </a:xfrm>
          <a:prstGeom prst="rect">
            <a:avLst/>
          </a:prstGeom>
          <a:noFill/>
          <a:ln/>
        </p:spPr>
        <p:txBody>
          <a:bodyPr wrap="square" lIns="0" tIns="0" rIns="0" bIns="0" rtlCol="0" anchor="ctr"/>
          <a:lstStyle/>
          <a:p>
            <a:pPr algn="ctr" indent="0" marL="0">
              <a:buNone/>
            </a:pPr>
            <a:r>
              <a:rPr lang="en-US" sz="2200" b="1" dirty="0">
                <a:solidFill>
                  <a:srgbClr val="000000"/>
                </a:solidFill>
                <a:latin typeface="Arial" pitchFamily="34" charset="0"/>
                <a:ea typeface="Arial" pitchFamily="34" charset="-122"/>
                <a:cs typeface="Arial" pitchFamily="34" charset="-120"/>
              </a:rPr>
              <a:t>!</a:t>
            </a:r>
            <a:endParaRPr lang="en-US" sz="2200" dirty="0"/>
          </a:p>
        </p:txBody>
      </p:sp>
      <p:sp>
        <p:nvSpPr>
          <p:cNvPr id="26" name="Text 24"/>
          <p:cNvSpPr txBox="1"/>
          <p:nvPr/>
        </p:nvSpPr>
        <p:spPr>
          <a:xfrm>
            <a:off x="2011680" y="4572000"/>
            <a:ext cx="9144000" cy="384048"/>
          </a:xfrm>
          <a:prstGeom prst="rect">
            <a:avLst/>
          </a:prstGeom>
          <a:noFill/>
          <a:ln/>
        </p:spPr>
        <p:txBody>
          <a:bodyPr wrap="square" lIns="0" tIns="0" rIns="0" bIns="0" rtlCol="0" anchor="ctr"/>
          <a:lstStyle/>
          <a:p>
            <a:pPr indent="0" marL="0">
              <a:buNone/>
            </a:pPr>
            <a:r>
              <a:rPr lang="en-US" sz="1900" b="1" dirty="0">
                <a:solidFill>
                  <a:srgbClr val="FFD400"/>
                </a:solidFill>
                <a:latin typeface="Arial" pitchFamily="34" charset="0"/>
                <a:ea typeface="Arial" pitchFamily="34" charset="-122"/>
                <a:cs typeface="Arial" pitchFamily="34" charset="-120"/>
              </a:rPr>
              <a:t>The wearer’s device holds a secret token. The guardian never sees it.</a:t>
            </a:r>
            <a:endParaRPr lang="en-US" sz="1900" dirty="0"/>
          </a:p>
        </p:txBody>
      </p:sp>
      <p:sp>
        <p:nvSpPr>
          <p:cNvPr id="27" name="Text 25"/>
          <p:cNvSpPr txBox="1"/>
          <p:nvPr/>
        </p:nvSpPr>
        <p:spPr>
          <a:xfrm>
            <a:off x="2011680" y="5029200"/>
            <a:ext cx="9144000" cy="777240"/>
          </a:xfrm>
          <a:prstGeom prst="rect">
            <a:avLst/>
          </a:prstGeom>
          <a:noFill/>
          <a:ln/>
        </p:spPr>
        <p:txBody>
          <a:bodyPr wrap="square" lIns="0" tIns="0" rIns="0" bIns="0" rtlCol="0" anchor="ctr"/>
          <a:lstStyle/>
          <a:p>
            <a:pPr indent="0" marL="0">
              <a:lnSpc>
                <a:spcPts val="1900"/>
              </a:lnSpc>
              <a:buNone/>
            </a:pPr>
            <a:r>
              <a:rPr lang="en-US" sz="1350" dirty="0">
                <a:solidFill>
                  <a:srgbClr val="B8B8B8"/>
                </a:solidFill>
                <a:latin typeface="Arial" pitchFamily="34" charset="0"/>
                <a:ea typeface="Arial" pitchFamily="34" charset="-122"/>
                <a:cs typeface="Arial" pitchFamily="34" charset="-120"/>
              </a:rPr>
              <a:t>Only a request carrying that token can approve sharing. A guardian who has the session link can ask, and that is all they can do — they cannot answer on the wearer’s behalf. And the server checks state on every single frame upload, so revoking access takes effect immediately rather than whenever the app next feels like checking.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It installs, and it survives losing signal</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Which in Lebanon is not an edge case</a:t>
            </a:r>
            <a:endParaRPr lang="en-US" sz="1500" dirty="0"/>
          </a:p>
        </p:txBody>
      </p:sp>
      <p:sp>
        <p:nvSpPr>
          <p:cNvPr id="4" name="Shape 2"/>
          <p:cNvSpPr/>
          <p:nvPr/>
        </p:nvSpPr>
        <p:spPr>
          <a:xfrm>
            <a:off x="868680" y="1901952"/>
            <a:ext cx="384048" cy="384048"/>
          </a:xfrm>
          <a:prstGeom prst="ellipse">
            <a:avLst/>
          </a:prstGeom>
          <a:solidFill>
            <a:srgbClr val="FFD400"/>
          </a:solidFill>
          <a:ln/>
        </p:spPr>
      </p:sp>
      <p:sp>
        <p:nvSpPr>
          <p:cNvPr id="5" name="Text 3"/>
          <p:cNvSpPr txBox="1"/>
          <p:nvPr/>
        </p:nvSpPr>
        <p:spPr>
          <a:xfrm>
            <a:off x="868680" y="1901952"/>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463040" y="1965960"/>
            <a:ext cx="3794760" cy="457200"/>
          </a:xfrm>
          <a:prstGeom prst="rect">
            <a:avLst/>
          </a:prstGeom>
          <a:noFill/>
          <a:ln/>
        </p:spPr>
        <p:txBody>
          <a:bodyPr wrap="square" lIns="0" tIns="0" rIns="0" bIns="0" rtlCol="0" anchor="t"/>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Installs to the home screen</a:t>
            </a:r>
            <a:endParaRPr lang="en-US" sz="1500" dirty="0"/>
          </a:p>
        </p:txBody>
      </p:sp>
      <p:sp>
        <p:nvSpPr>
          <p:cNvPr id="7" name="Text 5"/>
          <p:cNvSpPr txBox="1"/>
          <p:nvPr/>
        </p:nvSpPr>
        <p:spPr>
          <a:xfrm>
            <a:off x="5440680" y="1938528"/>
            <a:ext cx="594360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Manifest, icons, service worker. Opens full screen with no browser chrome. On iPhone it is Share, then Add to Home Screen.</a:t>
            </a:r>
            <a:endParaRPr lang="en-US" sz="1250" dirty="0"/>
          </a:p>
        </p:txBody>
      </p:sp>
      <p:sp>
        <p:nvSpPr>
          <p:cNvPr id="8" name="Shape 6"/>
          <p:cNvSpPr/>
          <p:nvPr/>
        </p:nvSpPr>
        <p:spPr>
          <a:xfrm>
            <a:off x="868680" y="2761488"/>
            <a:ext cx="384048" cy="384048"/>
          </a:xfrm>
          <a:prstGeom prst="ellipse">
            <a:avLst/>
          </a:prstGeom>
          <a:solidFill>
            <a:srgbClr val="FFD400"/>
          </a:solidFill>
          <a:ln/>
        </p:spPr>
      </p:sp>
      <p:sp>
        <p:nvSpPr>
          <p:cNvPr id="9" name="Text 7"/>
          <p:cNvSpPr txBox="1"/>
          <p:nvPr/>
        </p:nvSpPr>
        <p:spPr>
          <a:xfrm>
            <a:off x="868680" y="2761488"/>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463040" y="2825496"/>
            <a:ext cx="3794760" cy="457200"/>
          </a:xfrm>
          <a:prstGeom prst="rect">
            <a:avLst/>
          </a:prstGeom>
          <a:noFill/>
          <a:ln/>
        </p:spPr>
        <p:txBody>
          <a:bodyPr wrap="square" lIns="0" tIns="0" rIns="0" bIns="0" rtlCol="0" anchor="t"/>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The cache refuses to touch the API</a:t>
            </a:r>
            <a:endParaRPr lang="en-US" sz="1500" dirty="0"/>
          </a:p>
        </p:txBody>
      </p:sp>
      <p:sp>
        <p:nvSpPr>
          <p:cNvPr id="11" name="Text 9"/>
          <p:cNvSpPr txBox="1"/>
          <p:nvPr/>
        </p:nvSpPr>
        <p:spPr>
          <a:xfrm>
            <a:off x="5440680" y="2798064"/>
            <a:ext cx="594360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The service worker never caches a POST and never caches the backend host. A cached scene description handed to a blind user is worse than no answer at all.</a:t>
            </a:r>
            <a:endParaRPr lang="en-US" sz="1250" dirty="0"/>
          </a:p>
        </p:txBody>
      </p:sp>
      <p:sp>
        <p:nvSpPr>
          <p:cNvPr id="12" name="Shape 10"/>
          <p:cNvSpPr/>
          <p:nvPr/>
        </p:nvSpPr>
        <p:spPr>
          <a:xfrm>
            <a:off x="868680" y="3621024"/>
            <a:ext cx="384048" cy="384048"/>
          </a:xfrm>
          <a:prstGeom prst="ellipse">
            <a:avLst/>
          </a:prstGeom>
          <a:solidFill>
            <a:srgbClr val="FFD400"/>
          </a:solidFill>
          <a:ln/>
        </p:spPr>
      </p:sp>
      <p:sp>
        <p:nvSpPr>
          <p:cNvPr id="13" name="Text 11"/>
          <p:cNvSpPr txBox="1"/>
          <p:nvPr/>
        </p:nvSpPr>
        <p:spPr>
          <a:xfrm>
            <a:off x="868680" y="3621024"/>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463040" y="3685032"/>
            <a:ext cx="3794760" cy="457200"/>
          </a:xfrm>
          <a:prstGeom prst="rect">
            <a:avLst/>
          </a:prstGeom>
          <a:noFill/>
          <a:ln/>
        </p:spPr>
        <p:txBody>
          <a:bodyPr wrap="square" lIns="0" tIns="0" rIns="0" bIns="0" rtlCol="0" anchor="t"/>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Arabic phrases persist on the device</a:t>
            </a:r>
            <a:endParaRPr lang="en-US" sz="1500" dirty="0"/>
          </a:p>
        </p:txBody>
      </p:sp>
      <p:sp>
        <p:nvSpPr>
          <p:cNvPr id="15" name="Text 13"/>
          <p:cNvSpPr txBox="1"/>
          <p:nvPr/>
        </p:nvSpPr>
        <p:spPr>
          <a:xfrm>
            <a:off x="5440680" y="3657600"/>
            <a:ext cx="594360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Common spoken phrases are stored in IndexedDB, so they survive a restart. Offline, the app still talks. It just cannot describe anything new.</a:t>
            </a:r>
            <a:endParaRPr lang="en-US" sz="1250" dirty="0"/>
          </a:p>
        </p:txBody>
      </p:sp>
      <p:sp>
        <p:nvSpPr>
          <p:cNvPr id="16" name="Shape 14"/>
          <p:cNvSpPr/>
          <p:nvPr/>
        </p:nvSpPr>
        <p:spPr>
          <a:xfrm>
            <a:off x="868680" y="4480560"/>
            <a:ext cx="384048" cy="384048"/>
          </a:xfrm>
          <a:prstGeom prst="ellipse">
            <a:avLst/>
          </a:prstGeom>
          <a:solidFill>
            <a:srgbClr val="FFD400"/>
          </a:solidFill>
          <a:ln/>
        </p:spPr>
      </p:sp>
      <p:sp>
        <p:nvSpPr>
          <p:cNvPr id="17" name="Text 15"/>
          <p:cNvSpPr txBox="1"/>
          <p:nvPr/>
        </p:nvSpPr>
        <p:spPr>
          <a:xfrm>
            <a:off x="868680" y="4480560"/>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463040" y="4544568"/>
            <a:ext cx="3794760" cy="457200"/>
          </a:xfrm>
          <a:prstGeom prst="rect">
            <a:avLst/>
          </a:prstGeom>
          <a:noFill/>
          <a:ln/>
        </p:spPr>
        <p:txBody>
          <a:bodyPr wrap="square" lIns="0" tIns="0" rIns="0" bIns="0" rtlCol="0" anchor="t"/>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It tells you when the signal drops</a:t>
            </a:r>
            <a:endParaRPr lang="en-US" sz="1500" dirty="0"/>
          </a:p>
        </p:txBody>
      </p:sp>
      <p:sp>
        <p:nvSpPr>
          <p:cNvPr id="19" name="Text 17"/>
          <p:cNvSpPr txBox="1"/>
          <p:nvPr/>
        </p:nvSpPr>
        <p:spPr>
          <a:xfrm>
            <a:off x="5440680" y="4517136"/>
            <a:ext cx="594360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Connection changes are announced out loud, in Arabic. Errors are spoken too, not just printed on a screen nobody is looking at.</a:t>
            </a:r>
            <a:endParaRPr lang="en-US" sz="1250" dirty="0"/>
          </a:p>
        </p:txBody>
      </p:sp>
      <p:sp>
        <p:nvSpPr>
          <p:cNvPr id="20" name="Shape 18"/>
          <p:cNvSpPr/>
          <p:nvPr/>
        </p:nvSpPr>
        <p:spPr>
          <a:xfrm>
            <a:off x="868680" y="5340096"/>
            <a:ext cx="384048" cy="384048"/>
          </a:xfrm>
          <a:prstGeom prst="ellipse">
            <a:avLst/>
          </a:prstGeom>
          <a:solidFill>
            <a:srgbClr val="FFD400"/>
          </a:solidFill>
          <a:ln/>
        </p:spPr>
      </p:sp>
      <p:sp>
        <p:nvSpPr>
          <p:cNvPr id="21" name="Text 19"/>
          <p:cNvSpPr txBox="1"/>
          <p:nvPr/>
        </p:nvSpPr>
        <p:spPr>
          <a:xfrm>
            <a:off x="868680" y="5340096"/>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463040" y="5404104"/>
            <a:ext cx="3794760" cy="457200"/>
          </a:xfrm>
          <a:prstGeom prst="rect">
            <a:avLst/>
          </a:prstGeom>
          <a:noFill/>
          <a:ln/>
        </p:spPr>
        <p:txBody>
          <a:bodyPr wrap="square" lIns="0" tIns="0" rIns="0" bIns="0" rtlCol="0" anchor="t"/>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Screen stays awake while sharing</a:t>
            </a:r>
            <a:endParaRPr lang="en-US" sz="1500" dirty="0"/>
          </a:p>
        </p:txBody>
      </p:sp>
      <p:sp>
        <p:nvSpPr>
          <p:cNvPr id="23" name="Text 21"/>
          <p:cNvSpPr txBox="1"/>
          <p:nvPr/>
        </p:nvSpPr>
        <p:spPr>
          <a:xfrm>
            <a:off x="5440680" y="5376672"/>
            <a:ext cx="594360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William added a wake lock and live location on the shared session. Merged into main on the 23rd.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New: how far, and which way</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A working prototype — on my laptop, not in the app yet</a:t>
            </a:r>
            <a:endParaRPr lang="en-US" sz="1500" dirty="0"/>
          </a:p>
        </p:txBody>
      </p:sp>
      <p:sp>
        <p:nvSpPr>
          <p:cNvPr id="4" name="Text 2"/>
          <p:cNvSpPr txBox="1"/>
          <p:nvPr/>
        </p:nvSpPr>
        <p:spPr>
          <a:xfrm>
            <a:off x="822960" y="1965960"/>
            <a:ext cx="5760720" cy="777240"/>
          </a:xfrm>
          <a:prstGeom prst="rect">
            <a:avLst/>
          </a:prstGeom>
          <a:noFill/>
          <a:ln/>
        </p:spPr>
        <p:txBody>
          <a:bodyPr wrap="square" lIns="0" tIns="0" rIns="0" bIns="0" rtlCol="0" anchor="ctr"/>
          <a:lstStyle/>
          <a:p>
            <a:pPr indent="0" marL="0">
              <a:lnSpc>
                <a:spcPts val="2200"/>
              </a:lnSpc>
              <a:buNone/>
            </a:pPr>
            <a:r>
              <a:rPr lang="en-US" sz="1500" dirty="0">
                <a:solidFill>
                  <a:srgbClr val="FFFFFF"/>
                </a:solidFill>
                <a:latin typeface="Arial" pitchFamily="34" charset="0"/>
                <a:ea typeface="Arial" pitchFamily="34" charset="-122"/>
                <a:cs typeface="Arial" pitchFamily="34" charset="-120"/>
              </a:rPr>
              <a:t>Object detection and depth estimation on the same frame. It knows what the thing is and how far away it is, so it can say both.</a:t>
            </a:r>
            <a:endParaRPr lang="en-US" sz="1500" dirty="0"/>
          </a:p>
        </p:txBody>
      </p:sp>
      <p:sp>
        <p:nvSpPr>
          <p:cNvPr id="5" name="Shape 3"/>
          <p:cNvSpPr/>
          <p:nvPr/>
        </p:nvSpPr>
        <p:spPr>
          <a:xfrm>
            <a:off x="868680" y="3035808"/>
            <a:ext cx="146304" cy="146304"/>
          </a:xfrm>
          <a:prstGeom prst="ellipse">
            <a:avLst/>
          </a:prstGeom>
          <a:solidFill>
            <a:srgbClr val="FFD400"/>
          </a:solidFill>
          <a:ln/>
        </p:spPr>
      </p:sp>
      <p:sp>
        <p:nvSpPr>
          <p:cNvPr id="6" name="Text 4"/>
          <p:cNvSpPr txBox="1"/>
          <p:nvPr/>
        </p:nvSpPr>
        <p:spPr>
          <a:xfrm>
            <a:off x="1234440" y="2971800"/>
            <a:ext cx="5394960" cy="548640"/>
          </a:xfrm>
          <a:prstGeom prst="rect">
            <a:avLst/>
          </a:prstGeom>
          <a:noFill/>
          <a:ln/>
        </p:spPr>
        <p:txBody>
          <a:bodyPr wrap="square" lIns="0" tIns="0" rIns="0" bIns="0" rtlCol="0" anchor="t"/>
          <a:lstStyle/>
          <a:p>
            <a:pPr indent="0" marL="0">
              <a:lnSpc>
                <a:spcPts val="1900"/>
              </a:lnSpc>
              <a:buNone/>
            </a:pPr>
            <a:r>
              <a:rPr lang="en-US" sz="1350" dirty="0">
                <a:solidFill>
                  <a:srgbClr val="B8B8B8"/>
                </a:solidFill>
                <a:latin typeface="Arial" pitchFamily="34" charset="0"/>
                <a:ea typeface="Arial" pitchFamily="34" charset="-122"/>
                <a:cs typeface="Arial" pitchFamily="34" charset="-120"/>
              </a:rPr>
              <a:t>Steps, not metres. Calibrated to the person’s own stride.</a:t>
            </a:r>
            <a:endParaRPr lang="en-US" sz="1350" dirty="0"/>
          </a:p>
        </p:txBody>
      </p:sp>
      <p:sp>
        <p:nvSpPr>
          <p:cNvPr id="7" name="Shape 5"/>
          <p:cNvSpPr/>
          <p:nvPr/>
        </p:nvSpPr>
        <p:spPr>
          <a:xfrm>
            <a:off x="868680" y="3694176"/>
            <a:ext cx="146304" cy="146304"/>
          </a:xfrm>
          <a:prstGeom prst="ellipse">
            <a:avLst/>
          </a:prstGeom>
          <a:solidFill>
            <a:srgbClr val="FFD400"/>
          </a:solidFill>
          <a:ln/>
        </p:spPr>
      </p:sp>
      <p:sp>
        <p:nvSpPr>
          <p:cNvPr id="8" name="Text 6"/>
          <p:cNvSpPr txBox="1"/>
          <p:nvPr/>
        </p:nvSpPr>
        <p:spPr>
          <a:xfrm>
            <a:off x="1234440" y="3630168"/>
            <a:ext cx="5394960" cy="548640"/>
          </a:xfrm>
          <a:prstGeom prst="rect">
            <a:avLst/>
          </a:prstGeom>
          <a:noFill/>
          <a:ln/>
        </p:spPr>
        <p:txBody>
          <a:bodyPr wrap="square" lIns="0" tIns="0" rIns="0" bIns="0" rtlCol="0" anchor="t"/>
          <a:lstStyle/>
          <a:p>
            <a:pPr indent="0" marL="0">
              <a:lnSpc>
                <a:spcPts val="1900"/>
              </a:lnSpc>
              <a:buNone/>
            </a:pPr>
            <a:r>
              <a:rPr lang="en-US" sz="1350" dirty="0">
                <a:solidFill>
                  <a:srgbClr val="B8B8B8"/>
                </a:solidFill>
                <a:latin typeface="Arial" pitchFamily="34" charset="0"/>
                <a:ea typeface="Arial" pitchFamily="34" charset="-122"/>
                <a:cs typeface="Arial" pitchFamily="34" charset="-120"/>
              </a:rPr>
              <a:t>Clock positions, not degrees. "At two o’clock" is directly usable.</a:t>
            </a:r>
            <a:endParaRPr lang="en-US" sz="1350" dirty="0"/>
          </a:p>
        </p:txBody>
      </p:sp>
      <p:sp>
        <p:nvSpPr>
          <p:cNvPr id="9" name="Shape 7"/>
          <p:cNvSpPr/>
          <p:nvPr/>
        </p:nvSpPr>
        <p:spPr>
          <a:xfrm>
            <a:off x="868680" y="4352544"/>
            <a:ext cx="146304" cy="146304"/>
          </a:xfrm>
          <a:prstGeom prst="ellipse">
            <a:avLst/>
          </a:prstGeom>
          <a:solidFill>
            <a:srgbClr val="FFD400"/>
          </a:solidFill>
          <a:ln/>
        </p:spPr>
      </p:sp>
      <p:sp>
        <p:nvSpPr>
          <p:cNvPr id="10" name="Text 8"/>
          <p:cNvSpPr txBox="1"/>
          <p:nvPr/>
        </p:nvSpPr>
        <p:spPr>
          <a:xfrm>
            <a:off x="1234440" y="4288536"/>
            <a:ext cx="5394960" cy="548640"/>
          </a:xfrm>
          <a:prstGeom prst="rect">
            <a:avLst/>
          </a:prstGeom>
          <a:noFill/>
          <a:ln/>
        </p:spPr>
        <p:txBody>
          <a:bodyPr wrap="square" lIns="0" tIns="0" rIns="0" bIns="0" rtlCol="0" anchor="t"/>
          <a:lstStyle/>
          <a:p>
            <a:pPr indent="0" marL="0">
              <a:lnSpc>
                <a:spcPts val="1900"/>
              </a:lnSpc>
              <a:buNone/>
            </a:pPr>
            <a:r>
              <a:rPr lang="en-US" sz="1350" dirty="0">
                <a:solidFill>
                  <a:srgbClr val="B8B8B8"/>
                </a:solidFill>
                <a:latin typeface="Arial" pitchFamily="34" charset="0"/>
                <a:ea typeface="Arial" pitchFamily="34" charset="-122"/>
                <a:cs typeface="Arial" pitchFamily="34" charset="-120"/>
              </a:rPr>
              <a:t>It stays quiet unless something changed enough to be worth saying.</a:t>
            </a:r>
            <a:endParaRPr lang="en-US" sz="1350" dirty="0"/>
          </a:p>
        </p:txBody>
      </p:sp>
      <p:sp>
        <p:nvSpPr>
          <p:cNvPr id="11" name="Shape 9"/>
          <p:cNvSpPr/>
          <p:nvPr/>
        </p:nvSpPr>
        <p:spPr>
          <a:xfrm>
            <a:off x="7086600" y="1920240"/>
            <a:ext cx="4297680" cy="2514600"/>
          </a:xfrm>
          <a:prstGeom prst="roundRect">
            <a:avLst>
              <a:gd name="adj" fmla="val 4364"/>
            </a:avLst>
          </a:prstGeom>
          <a:solidFill>
            <a:srgbClr val="000000"/>
          </a:solidFill>
          <a:ln w="12700">
            <a:solidFill>
              <a:srgbClr val="6B6B6B"/>
            </a:solidFill>
            <a:prstDash val="solid"/>
          </a:ln>
        </p:spPr>
      </p:sp>
      <p:sp>
        <p:nvSpPr>
          <p:cNvPr id="12" name="Text 10"/>
          <p:cNvSpPr txBox="1"/>
          <p:nvPr/>
        </p:nvSpPr>
        <p:spPr>
          <a:xfrm>
            <a:off x="7452360" y="2194560"/>
            <a:ext cx="3566160" cy="274320"/>
          </a:xfrm>
          <a:prstGeom prst="rect">
            <a:avLst/>
          </a:prstGeom>
          <a:noFill/>
          <a:ln/>
        </p:spPr>
        <p:txBody>
          <a:bodyPr wrap="square" lIns="0" tIns="0" rIns="0" bIns="0" rtlCol="0" anchor="ctr"/>
          <a:lstStyle/>
          <a:p>
            <a:pPr indent="0" marL="0">
              <a:buNone/>
            </a:pPr>
            <a:r>
              <a:rPr lang="en-US" sz="1200" dirty="0">
                <a:solidFill>
                  <a:srgbClr val="B8B8B8"/>
                </a:solidFill>
                <a:latin typeface="Arial" pitchFamily="34" charset="0"/>
                <a:ea typeface="Arial" pitchFamily="34" charset="-122"/>
                <a:cs typeface="Arial" pitchFamily="34" charset="-120"/>
              </a:rPr>
              <a:t>It says:</a:t>
            </a:r>
            <a:endParaRPr lang="en-US" sz="1200" dirty="0"/>
          </a:p>
        </p:txBody>
      </p:sp>
      <p:sp>
        <p:nvSpPr>
          <p:cNvPr id="13" name="Text 11"/>
          <p:cNvSpPr txBox="1"/>
          <p:nvPr/>
        </p:nvSpPr>
        <p:spPr>
          <a:xfrm>
            <a:off x="7452360" y="2560320"/>
            <a:ext cx="3566160" cy="822960"/>
          </a:xfrm>
          <a:prstGeom prst="rect">
            <a:avLst/>
          </a:prstGeom>
          <a:noFill/>
          <a:ln/>
        </p:spPr>
        <p:txBody>
          <a:bodyPr wrap="square" lIns="0" tIns="0" rIns="0" bIns="0" rtlCol="0" anchor="ctr"/>
          <a:lstStyle/>
          <a:p>
            <a:pPr algn="r" indent="0" marL="0">
              <a:lnSpc>
                <a:spcPts val="3200"/>
              </a:lnSpc>
              <a:buNone/>
            </a:pPr>
            <a:r>
              <a:rPr lang="en-US" sz="2200" b="1" dirty="0">
                <a:solidFill>
                  <a:srgbClr val="FFD400"/>
                </a:solidFill>
                <a:latin typeface="Arial" pitchFamily="34" charset="0"/>
                <a:ea typeface="Arial" pitchFamily="34" charset="-122"/>
                <a:cs typeface="Arial" pitchFamily="34" charset="-120"/>
              </a:rPr>
              <a:t>كرسي على بُعد ثلاث خطوات، الساعة اثنتان</a:t>
            </a:r>
            <a:endParaRPr lang="en-US" sz="2200" dirty="0"/>
          </a:p>
        </p:txBody>
      </p:sp>
      <p:sp>
        <p:nvSpPr>
          <p:cNvPr id="14" name="Text 12"/>
          <p:cNvSpPr txBox="1"/>
          <p:nvPr/>
        </p:nvSpPr>
        <p:spPr>
          <a:xfrm>
            <a:off x="7452360" y="3520440"/>
            <a:ext cx="3566160" cy="685800"/>
          </a:xfrm>
          <a:prstGeom prst="rect">
            <a:avLst/>
          </a:prstGeom>
          <a:noFill/>
          <a:ln/>
        </p:spPr>
        <p:txBody>
          <a:bodyPr wrap="square" lIns="0" tIns="0" rIns="0" bIns="0" rtlCol="0" anchor="ctr"/>
          <a:lstStyle/>
          <a:p>
            <a:pPr indent="0" marL="0">
              <a:lnSpc>
                <a:spcPts val="2100"/>
              </a:lnSpc>
              <a:buNone/>
            </a:pPr>
            <a:r>
              <a:rPr lang="en-US" sz="1500" i="1" dirty="0">
                <a:solidFill>
                  <a:srgbClr val="FFFFFF"/>
                </a:solidFill>
                <a:latin typeface="Arial" pitchFamily="34" charset="0"/>
                <a:ea typeface="Arial" pitchFamily="34" charset="-122"/>
                <a:cs typeface="Arial" pitchFamily="34" charset="-120"/>
              </a:rPr>
              <a:t>"A chair, three steps away, at two o’clock."</a:t>
            </a:r>
            <a:endParaRPr lang="en-US" sz="1500" dirty="0"/>
          </a:p>
        </p:txBody>
      </p:sp>
      <p:sp>
        <p:nvSpPr>
          <p:cNvPr id="15" name="Shape 13"/>
          <p:cNvSpPr/>
          <p:nvPr/>
        </p:nvSpPr>
        <p:spPr>
          <a:xfrm>
            <a:off x="822960" y="5074920"/>
            <a:ext cx="10561320" cy="1005840"/>
          </a:xfrm>
          <a:prstGeom prst="roundRect">
            <a:avLst>
              <a:gd name="adj" fmla="val 10909"/>
            </a:avLst>
          </a:prstGeom>
          <a:solidFill>
            <a:srgbClr val="15202E"/>
          </a:solidFill>
          <a:ln w="12700">
            <a:solidFill>
              <a:srgbClr val="3A5580"/>
            </a:solidFill>
            <a:prstDash val="solid"/>
          </a:ln>
        </p:spPr>
      </p:sp>
      <p:sp>
        <p:nvSpPr>
          <p:cNvPr id="16" name="Text 14"/>
          <p:cNvSpPr txBox="1"/>
          <p:nvPr/>
        </p:nvSpPr>
        <p:spPr>
          <a:xfrm>
            <a:off x="1188720" y="5285232"/>
            <a:ext cx="9829800" cy="64008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Arial" pitchFamily="34" charset="0"/>
                <a:ea typeface="Arial" pitchFamily="34" charset="-122"/>
                <a:cs typeface="Arial" pitchFamily="34" charset="-120"/>
              </a:rPr>
              <a:t>The neural networks were the easy part. The hard part was deciding when to shut up — rate limits, hysteresis, and not repeating yourself. A device that narrates constantly gets switched off, and then it helps nobody.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went wrong, honestly</a:t>
            </a:r>
            <a:endParaRPr lang="en-US" sz="3800" dirty="0"/>
          </a:p>
        </p:txBody>
      </p:sp>
      <p:sp>
        <p:nvSpPr>
          <p:cNvPr id="3" name="Text 1"/>
          <p:cNvSpPr txBox="1"/>
          <p:nvPr/>
        </p:nvSpPr>
        <p:spPr>
          <a:xfrm>
            <a:off x="640080" y="1170432"/>
            <a:ext cx="10881360" cy="384048"/>
          </a:xfrm>
          <a:prstGeom prst="rect">
            <a:avLst/>
          </a:prstGeom>
          <a:noFill/>
          <a:ln/>
        </p:spPr>
        <p:txBody>
          <a:bodyPr wrap="square" lIns="0" tIns="0" rIns="0" bIns="0" rtlCol="0" anchor="ctr"/>
          <a:lstStyle/>
          <a:p>
            <a:pPr indent="0" marL="0">
              <a:buNone/>
            </a:pPr>
            <a:r>
              <a:rPr lang="en-US" sz="1500" dirty="0">
                <a:solidFill>
                  <a:srgbClr val="FFD400"/>
                </a:solidFill>
                <a:latin typeface="Arial" pitchFamily="34" charset="0"/>
                <a:ea typeface="Arial" pitchFamily="34" charset="-122"/>
                <a:cs typeface="Arial" pitchFamily="34" charset="-120"/>
              </a:rPr>
              <a:t>Four things that cost me time, and what they taught me</a:t>
            </a:r>
            <a:endParaRPr lang="en-US" sz="1500" dirty="0"/>
          </a:p>
        </p:txBody>
      </p:sp>
      <p:sp>
        <p:nvSpPr>
          <p:cNvPr id="4" name="Shape 2"/>
          <p:cNvSpPr/>
          <p:nvPr/>
        </p:nvSpPr>
        <p:spPr>
          <a:xfrm>
            <a:off x="822960" y="2011680"/>
            <a:ext cx="5074920" cy="1828800"/>
          </a:xfrm>
          <a:prstGeom prst="roundRect">
            <a:avLst>
              <a:gd name="adj" fmla="val 6000"/>
            </a:avLst>
          </a:prstGeom>
          <a:solidFill>
            <a:srgbClr val="141414"/>
          </a:solidFill>
          <a:ln w="12700">
            <a:solidFill>
              <a:srgbClr val="2A3340"/>
            </a:solidFill>
            <a:prstDash val="solid"/>
          </a:ln>
        </p:spPr>
      </p:sp>
      <p:sp>
        <p:nvSpPr>
          <p:cNvPr id="5" name="Shape 3"/>
          <p:cNvSpPr/>
          <p:nvPr/>
        </p:nvSpPr>
        <p:spPr>
          <a:xfrm>
            <a:off x="1143000" y="2304288"/>
            <a:ext cx="402336" cy="402336"/>
          </a:xfrm>
          <a:prstGeom prst="ellipse">
            <a:avLst/>
          </a:prstGeom>
          <a:solidFill>
            <a:srgbClr val="FFD400"/>
          </a:solidFill>
          <a:ln/>
        </p:spPr>
      </p:sp>
      <p:sp>
        <p:nvSpPr>
          <p:cNvPr id="6" name="Text 4"/>
          <p:cNvSpPr txBox="1"/>
          <p:nvPr/>
        </p:nvSpPr>
        <p:spPr>
          <a:xfrm>
            <a:off x="1143000" y="2304288"/>
            <a:ext cx="402336" cy="402336"/>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691640" y="2286000"/>
            <a:ext cx="3977640" cy="457200"/>
          </a:xfrm>
          <a:prstGeom prst="rect">
            <a:avLst/>
          </a:prstGeom>
          <a:noFill/>
          <a:ln/>
        </p:spPr>
        <p:txBody>
          <a:bodyPr wrap="square" lIns="0" tIns="0" rIns="0" bIns="0" rtlCol="0" anchor="ctr"/>
          <a:lstStyle/>
          <a:p>
            <a:pPr indent="0" marL="0">
              <a:buNone/>
            </a:pPr>
            <a:r>
              <a:rPr lang="en-US" sz="1550" b="1" dirty="0">
                <a:solidFill>
                  <a:srgbClr val="FFD400"/>
                </a:solidFill>
                <a:latin typeface="Arial" pitchFamily="34" charset="0"/>
                <a:ea typeface="Arial" pitchFamily="34" charset="-122"/>
                <a:cs typeface="Arial" pitchFamily="34" charset="-120"/>
              </a:rPr>
              <a:t>A renamed repo broke every deploy</a:t>
            </a:r>
            <a:endParaRPr lang="en-US" sz="1550" dirty="0"/>
          </a:p>
        </p:txBody>
      </p:sp>
      <p:sp>
        <p:nvSpPr>
          <p:cNvPr id="8" name="Text 6"/>
          <p:cNvSpPr txBox="1"/>
          <p:nvPr/>
        </p:nvSpPr>
        <p:spPr>
          <a:xfrm>
            <a:off x="1143000" y="2852928"/>
            <a:ext cx="4526280" cy="86868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The repository had been renamed. The deploy hook still pointed at the old name and failed silently for seven builds. Reconnecting it took five minutes. Finding it took a day.</a:t>
            </a:r>
            <a:endParaRPr lang="en-US" sz="1250" dirty="0"/>
          </a:p>
        </p:txBody>
      </p:sp>
      <p:sp>
        <p:nvSpPr>
          <p:cNvPr id="9" name="Shape 7"/>
          <p:cNvSpPr/>
          <p:nvPr/>
        </p:nvSpPr>
        <p:spPr>
          <a:xfrm>
            <a:off x="6172200" y="2011680"/>
            <a:ext cx="5074920" cy="1828800"/>
          </a:xfrm>
          <a:prstGeom prst="roundRect">
            <a:avLst>
              <a:gd name="adj" fmla="val 6000"/>
            </a:avLst>
          </a:prstGeom>
          <a:solidFill>
            <a:srgbClr val="141414"/>
          </a:solidFill>
          <a:ln w="12700">
            <a:solidFill>
              <a:srgbClr val="2A3340"/>
            </a:solidFill>
            <a:prstDash val="solid"/>
          </a:ln>
        </p:spPr>
      </p:sp>
      <p:sp>
        <p:nvSpPr>
          <p:cNvPr id="10" name="Shape 8"/>
          <p:cNvSpPr/>
          <p:nvPr/>
        </p:nvSpPr>
        <p:spPr>
          <a:xfrm>
            <a:off x="6492240" y="2304288"/>
            <a:ext cx="402336" cy="402336"/>
          </a:xfrm>
          <a:prstGeom prst="ellipse">
            <a:avLst/>
          </a:prstGeom>
          <a:solidFill>
            <a:srgbClr val="FFD400"/>
          </a:solidFill>
          <a:ln/>
        </p:spPr>
      </p:sp>
      <p:sp>
        <p:nvSpPr>
          <p:cNvPr id="11" name="Text 9"/>
          <p:cNvSpPr txBox="1"/>
          <p:nvPr/>
        </p:nvSpPr>
        <p:spPr>
          <a:xfrm>
            <a:off x="6492240" y="2304288"/>
            <a:ext cx="402336" cy="402336"/>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7040880" y="2286000"/>
            <a:ext cx="3977640" cy="457200"/>
          </a:xfrm>
          <a:prstGeom prst="rect">
            <a:avLst/>
          </a:prstGeom>
          <a:noFill/>
          <a:ln/>
        </p:spPr>
        <p:txBody>
          <a:bodyPr wrap="square" lIns="0" tIns="0" rIns="0" bIns="0" rtlCol="0" anchor="ctr"/>
          <a:lstStyle/>
          <a:p>
            <a:pPr indent="0" marL="0">
              <a:buNone/>
            </a:pPr>
            <a:r>
              <a:rPr lang="en-US" sz="1550" b="1" dirty="0">
                <a:solidFill>
                  <a:srgbClr val="FFD400"/>
                </a:solidFill>
                <a:latin typeface="Arial" pitchFamily="34" charset="0"/>
                <a:ea typeface="Arial" pitchFamily="34" charset="-122"/>
                <a:cs typeface="Arial" pitchFamily="34" charset="-120"/>
              </a:rPr>
              <a:t>The AWS console lied about saving</a:t>
            </a:r>
            <a:endParaRPr lang="en-US" sz="1550" dirty="0"/>
          </a:p>
        </p:txBody>
      </p:sp>
      <p:sp>
        <p:nvSpPr>
          <p:cNvPr id="13" name="Text 11"/>
          <p:cNvSpPr txBox="1"/>
          <p:nvPr/>
        </p:nvSpPr>
        <p:spPr>
          <a:xfrm>
            <a:off x="6492240" y="2852928"/>
            <a:ext cx="4526280" cy="86868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I set a permissions role in the console and it said saved. It was not saved. I had to confirm from the command line. Now I check critical settings from the CLI, not the UI.</a:t>
            </a:r>
            <a:endParaRPr lang="en-US" sz="1250" dirty="0"/>
          </a:p>
        </p:txBody>
      </p:sp>
      <p:sp>
        <p:nvSpPr>
          <p:cNvPr id="14" name="Shape 12"/>
          <p:cNvSpPr/>
          <p:nvPr/>
        </p:nvSpPr>
        <p:spPr>
          <a:xfrm>
            <a:off x="822960" y="4069080"/>
            <a:ext cx="5074920" cy="1828800"/>
          </a:xfrm>
          <a:prstGeom prst="roundRect">
            <a:avLst>
              <a:gd name="adj" fmla="val 6000"/>
            </a:avLst>
          </a:prstGeom>
          <a:solidFill>
            <a:srgbClr val="141414"/>
          </a:solidFill>
          <a:ln w="12700">
            <a:solidFill>
              <a:srgbClr val="2A3340"/>
            </a:solidFill>
            <a:prstDash val="solid"/>
          </a:ln>
        </p:spPr>
      </p:sp>
      <p:sp>
        <p:nvSpPr>
          <p:cNvPr id="15" name="Shape 13"/>
          <p:cNvSpPr/>
          <p:nvPr/>
        </p:nvSpPr>
        <p:spPr>
          <a:xfrm>
            <a:off x="1143000" y="4361688"/>
            <a:ext cx="402336" cy="402336"/>
          </a:xfrm>
          <a:prstGeom prst="ellipse">
            <a:avLst/>
          </a:prstGeom>
          <a:solidFill>
            <a:srgbClr val="FFD400"/>
          </a:solidFill>
          <a:ln/>
        </p:spPr>
      </p:sp>
      <p:sp>
        <p:nvSpPr>
          <p:cNvPr id="16" name="Text 14"/>
          <p:cNvSpPr txBox="1"/>
          <p:nvPr/>
        </p:nvSpPr>
        <p:spPr>
          <a:xfrm>
            <a:off x="1143000" y="4361688"/>
            <a:ext cx="402336" cy="402336"/>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691640" y="4343400"/>
            <a:ext cx="3977640" cy="457200"/>
          </a:xfrm>
          <a:prstGeom prst="rect">
            <a:avLst/>
          </a:prstGeom>
          <a:noFill/>
          <a:ln/>
        </p:spPr>
        <p:txBody>
          <a:bodyPr wrap="square" lIns="0" tIns="0" rIns="0" bIns="0" rtlCol="0" anchor="ctr"/>
          <a:lstStyle/>
          <a:p>
            <a:pPr indent="0" marL="0">
              <a:buNone/>
            </a:pPr>
            <a:r>
              <a:rPr lang="en-US" sz="1550" b="1" dirty="0">
                <a:solidFill>
                  <a:srgbClr val="FFD400"/>
                </a:solidFill>
                <a:latin typeface="Arial" pitchFamily="34" charset="0"/>
                <a:ea typeface="Arial" pitchFamily="34" charset="-122"/>
                <a:cs typeface="Arial" pitchFamily="34" charset="-120"/>
              </a:rPr>
              <a:t>A door is not a recognised object</a:t>
            </a:r>
            <a:endParaRPr lang="en-US" sz="1550" dirty="0"/>
          </a:p>
        </p:txBody>
      </p:sp>
      <p:sp>
        <p:nvSpPr>
          <p:cNvPr id="18" name="Text 16"/>
          <p:cNvSpPr txBox="1"/>
          <p:nvPr/>
        </p:nvSpPr>
        <p:spPr>
          <a:xfrm>
            <a:off x="1143000" y="4910328"/>
            <a:ext cx="4526280" cy="86868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The standard model knows eighty everyday things. A door is not one of them. For an app that guides someone across an unfamiliar room, that is not a detail.</a:t>
            </a:r>
            <a:endParaRPr lang="en-US" sz="1250" dirty="0"/>
          </a:p>
        </p:txBody>
      </p:sp>
      <p:sp>
        <p:nvSpPr>
          <p:cNvPr id="19" name="Shape 17"/>
          <p:cNvSpPr/>
          <p:nvPr/>
        </p:nvSpPr>
        <p:spPr>
          <a:xfrm>
            <a:off x="6172200" y="4069080"/>
            <a:ext cx="5074920" cy="1828800"/>
          </a:xfrm>
          <a:prstGeom prst="roundRect">
            <a:avLst>
              <a:gd name="adj" fmla="val 6000"/>
            </a:avLst>
          </a:prstGeom>
          <a:solidFill>
            <a:srgbClr val="141414"/>
          </a:solidFill>
          <a:ln w="12700">
            <a:solidFill>
              <a:srgbClr val="2A3340"/>
            </a:solidFill>
            <a:prstDash val="solid"/>
          </a:ln>
        </p:spPr>
      </p:sp>
      <p:sp>
        <p:nvSpPr>
          <p:cNvPr id="20" name="Shape 18"/>
          <p:cNvSpPr/>
          <p:nvPr/>
        </p:nvSpPr>
        <p:spPr>
          <a:xfrm>
            <a:off x="6492240" y="4361688"/>
            <a:ext cx="402336" cy="402336"/>
          </a:xfrm>
          <a:prstGeom prst="ellipse">
            <a:avLst/>
          </a:prstGeom>
          <a:solidFill>
            <a:srgbClr val="FFD400"/>
          </a:solidFill>
          <a:ln/>
        </p:spPr>
      </p:sp>
      <p:sp>
        <p:nvSpPr>
          <p:cNvPr id="21" name="Text 19"/>
          <p:cNvSpPr txBox="1"/>
          <p:nvPr/>
        </p:nvSpPr>
        <p:spPr>
          <a:xfrm>
            <a:off x="6492240" y="4361688"/>
            <a:ext cx="402336" cy="402336"/>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7040880" y="4343400"/>
            <a:ext cx="3977640" cy="457200"/>
          </a:xfrm>
          <a:prstGeom prst="rect">
            <a:avLst/>
          </a:prstGeom>
          <a:noFill/>
          <a:ln/>
        </p:spPr>
        <p:txBody>
          <a:bodyPr wrap="square" lIns="0" tIns="0" rIns="0" bIns="0" rtlCol="0" anchor="ctr"/>
          <a:lstStyle/>
          <a:p>
            <a:pPr indent="0" marL="0">
              <a:buNone/>
            </a:pPr>
            <a:r>
              <a:rPr lang="en-US" sz="1550" b="1" dirty="0">
                <a:solidFill>
                  <a:srgbClr val="FFD400"/>
                </a:solidFill>
                <a:latin typeface="Arial" pitchFamily="34" charset="0"/>
                <a:ea typeface="Arial" pitchFamily="34" charset="-122"/>
                <a:cs typeface="Arial" pitchFamily="34" charset="-120"/>
              </a:rPr>
              <a:t>Dropped the speech service on cost</a:t>
            </a:r>
            <a:endParaRPr lang="en-US" sz="1550" dirty="0"/>
          </a:p>
        </p:txBody>
      </p:sp>
      <p:sp>
        <p:nvSpPr>
          <p:cNvPr id="23" name="Text 21"/>
          <p:cNvSpPr txBox="1"/>
          <p:nvPr/>
        </p:nvSpPr>
        <p:spPr>
          <a:xfrm>
            <a:off x="6492240" y="4910328"/>
            <a:ext cx="4526280" cy="868680"/>
          </a:xfrm>
          <a:prstGeom prst="rect">
            <a:avLst/>
          </a:prstGeom>
          <a:noFill/>
          <a:ln/>
        </p:spPr>
        <p:txBody>
          <a:bodyPr wrap="square" lIns="0" tIns="0" rIns="0" bIns="0" rtlCol="0" anchor="ctr"/>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The obvious service for voice input bills per minute. This device would be listening all day. Wrong shape entirely, so I dropped it before building on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725"/>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a:t>
            </a:r>
            <a:endParaRPr lang="en-US" sz="3800" dirty="0"/>
          </a:p>
        </p:txBody>
      </p:sp>
      <p:sp>
        <p:nvSpPr>
          <p:cNvPr id="3" name="Shape 1"/>
          <p:cNvSpPr/>
          <p:nvPr/>
        </p:nvSpPr>
        <p:spPr>
          <a:xfrm>
            <a:off x="868680" y="1728216"/>
            <a:ext cx="420624" cy="420624"/>
          </a:xfrm>
          <a:prstGeom prst="ellipse">
            <a:avLst/>
          </a:prstGeom>
          <a:solidFill>
            <a:srgbClr val="FFD400"/>
          </a:solidFill>
          <a:ln/>
        </p:spPr>
      </p:sp>
      <p:sp>
        <p:nvSpPr>
          <p:cNvPr id="4" name="Text 2"/>
          <p:cNvSpPr txBox="1"/>
          <p:nvPr/>
        </p:nvSpPr>
        <p:spPr>
          <a:xfrm>
            <a:off x="868680" y="1728216"/>
            <a:ext cx="420624" cy="420624"/>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508760" y="1783080"/>
            <a:ext cx="4114800" cy="50292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Test the distance with a tape measure</a:t>
            </a:r>
            <a:endParaRPr lang="en-US" sz="1550" dirty="0"/>
          </a:p>
        </p:txBody>
      </p:sp>
      <p:sp>
        <p:nvSpPr>
          <p:cNvPr id="6" name="Text 4"/>
          <p:cNvSpPr txBox="1"/>
          <p:nvPr/>
        </p:nvSpPr>
        <p:spPr>
          <a:xfrm>
            <a:off x="5806440" y="1755648"/>
            <a:ext cx="557784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Everything else rests on that number being right. I have not verified it against reality yet, and I am not going to quote an accuracy figure until I have.</a:t>
            </a:r>
            <a:endParaRPr lang="en-US" sz="1250" dirty="0"/>
          </a:p>
        </p:txBody>
      </p:sp>
      <p:sp>
        <p:nvSpPr>
          <p:cNvPr id="7" name="Shape 5"/>
          <p:cNvSpPr/>
          <p:nvPr/>
        </p:nvSpPr>
        <p:spPr>
          <a:xfrm>
            <a:off x="868680" y="2624328"/>
            <a:ext cx="420624" cy="420624"/>
          </a:xfrm>
          <a:prstGeom prst="ellipse">
            <a:avLst/>
          </a:prstGeom>
          <a:solidFill>
            <a:srgbClr val="FFD400"/>
          </a:solidFill>
          <a:ln/>
        </p:spPr>
      </p:sp>
      <p:sp>
        <p:nvSpPr>
          <p:cNvPr id="8" name="Text 6"/>
          <p:cNvSpPr txBox="1"/>
          <p:nvPr/>
        </p:nvSpPr>
        <p:spPr>
          <a:xfrm>
            <a:off x="868680" y="2624328"/>
            <a:ext cx="420624" cy="420624"/>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508760" y="2679192"/>
            <a:ext cx="4114800" cy="50292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Get the distance feature into the app</a:t>
            </a:r>
            <a:endParaRPr lang="en-US" sz="1550" dirty="0"/>
          </a:p>
        </p:txBody>
      </p:sp>
      <p:sp>
        <p:nvSpPr>
          <p:cNvPr id="10" name="Text 8"/>
          <p:cNvSpPr txBox="1"/>
          <p:nvPr/>
        </p:nvSpPr>
        <p:spPr>
          <a:xfrm>
            <a:off x="5806440" y="2651760"/>
            <a:ext cx="557784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It runs on a laptop today. Porting it to the phone build is the next real piece of work.</a:t>
            </a:r>
            <a:endParaRPr lang="en-US" sz="1250" dirty="0"/>
          </a:p>
        </p:txBody>
      </p:sp>
      <p:sp>
        <p:nvSpPr>
          <p:cNvPr id="11" name="Shape 9"/>
          <p:cNvSpPr/>
          <p:nvPr/>
        </p:nvSpPr>
        <p:spPr>
          <a:xfrm>
            <a:off x="868680" y="3520440"/>
            <a:ext cx="420624" cy="420624"/>
          </a:xfrm>
          <a:prstGeom prst="ellipse">
            <a:avLst/>
          </a:prstGeom>
          <a:solidFill>
            <a:srgbClr val="FFD400"/>
          </a:solidFill>
          <a:ln/>
        </p:spPr>
      </p:sp>
      <p:sp>
        <p:nvSpPr>
          <p:cNvPr id="12" name="Text 10"/>
          <p:cNvSpPr txBox="1"/>
          <p:nvPr/>
        </p:nvSpPr>
        <p:spPr>
          <a:xfrm>
            <a:off x="868680" y="3520440"/>
            <a:ext cx="420624" cy="420624"/>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3</a:t>
            </a:r>
            <a:endParaRPr lang="en-US" sz="1500" dirty="0"/>
          </a:p>
        </p:txBody>
      </p:sp>
      <p:sp>
        <p:nvSpPr>
          <p:cNvPr id="13" name="Text 11"/>
          <p:cNvSpPr txBox="1"/>
          <p:nvPr/>
        </p:nvSpPr>
        <p:spPr>
          <a:xfrm>
            <a:off x="1508760" y="3575304"/>
            <a:ext cx="4114800" cy="50292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A model that knows what a door is</a:t>
            </a:r>
            <a:endParaRPr lang="en-US" sz="1550" dirty="0"/>
          </a:p>
        </p:txBody>
      </p:sp>
      <p:sp>
        <p:nvSpPr>
          <p:cNvPr id="14" name="Text 12"/>
          <p:cNvSpPr txBox="1"/>
          <p:nvPr/>
        </p:nvSpPr>
        <p:spPr>
          <a:xfrm>
            <a:off x="5806440" y="3547872"/>
            <a:ext cx="557784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Open-vocabulary detection, so it is not limited to a fixed list of eighty things.</a:t>
            </a:r>
            <a:endParaRPr lang="en-US" sz="1250" dirty="0"/>
          </a:p>
        </p:txBody>
      </p:sp>
      <p:sp>
        <p:nvSpPr>
          <p:cNvPr id="15" name="Shape 13"/>
          <p:cNvSpPr/>
          <p:nvPr/>
        </p:nvSpPr>
        <p:spPr>
          <a:xfrm>
            <a:off x="868680" y="4416552"/>
            <a:ext cx="420624" cy="420624"/>
          </a:xfrm>
          <a:prstGeom prst="ellipse">
            <a:avLst/>
          </a:prstGeom>
          <a:solidFill>
            <a:srgbClr val="FFD400"/>
          </a:solidFill>
          <a:ln/>
        </p:spPr>
      </p:sp>
      <p:sp>
        <p:nvSpPr>
          <p:cNvPr id="16" name="Text 14"/>
          <p:cNvSpPr txBox="1"/>
          <p:nvPr/>
        </p:nvSpPr>
        <p:spPr>
          <a:xfrm>
            <a:off x="868680" y="4416552"/>
            <a:ext cx="420624" cy="420624"/>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4</a:t>
            </a:r>
            <a:endParaRPr lang="en-US" sz="1500" dirty="0"/>
          </a:p>
        </p:txBody>
      </p:sp>
      <p:sp>
        <p:nvSpPr>
          <p:cNvPr id="17" name="Text 15"/>
          <p:cNvSpPr txBox="1"/>
          <p:nvPr/>
        </p:nvSpPr>
        <p:spPr>
          <a:xfrm>
            <a:off x="1508760" y="4471416"/>
            <a:ext cx="4114800" cy="502920"/>
          </a:xfrm>
          <a:prstGeom prst="rect">
            <a:avLst/>
          </a:prstGeom>
          <a:noFill/>
          <a:ln/>
        </p:spPr>
        <p:txBody>
          <a:bodyPr wrap="square" lIns="0" tIns="0" rIns="0" bIns="0" rtlCol="0" anchor="t"/>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Talking to it instead of finding a button</a:t>
            </a:r>
            <a:endParaRPr lang="en-US" sz="1550" dirty="0"/>
          </a:p>
        </p:txBody>
      </p:sp>
      <p:sp>
        <p:nvSpPr>
          <p:cNvPr id="18" name="Text 16"/>
          <p:cNvSpPr txBox="1"/>
          <p:nvPr/>
        </p:nvSpPr>
        <p:spPr>
          <a:xfrm>
            <a:off x="5806440" y="4443984"/>
            <a:ext cx="5577840" cy="731520"/>
          </a:xfrm>
          <a:prstGeom prst="rect">
            <a:avLst/>
          </a:prstGeom>
          <a:noFill/>
          <a:ln/>
        </p:spPr>
        <p:txBody>
          <a:bodyPr wrap="square" lIns="0" tIns="0" rIns="0" bIns="0" rtlCol="0" anchor="t"/>
          <a:lstStyle/>
          <a:p>
            <a:pPr indent="0" marL="0">
              <a:lnSpc>
                <a:spcPts val="1700"/>
              </a:lnSpc>
              <a:buNone/>
            </a:pPr>
            <a:r>
              <a:rPr lang="en-US" sz="1250" dirty="0">
                <a:solidFill>
                  <a:srgbClr val="B8B8B8"/>
                </a:solidFill>
                <a:latin typeface="Arial" pitchFamily="34" charset="0"/>
                <a:ea typeface="Arial" pitchFamily="34" charset="-122"/>
                <a:cs typeface="Arial" pitchFamily="34" charset="-120"/>
              </a:rPr>
              <a:t>On-device speech for the fixed commands, and the cloud only for open questions. Keeps the cost sane.</a:t>
            </a:r>
            <a:endParaRPr lang="en-US" sz="1250" dirty="0"/>
          </a:p>
        </p:txBody>
      </p:sp>
      <p:sp>
        <p:nvSpPr>
          <p:cNvPr id="19" name="Shape 17"/>
          <p:cNvSpPr/>
          <p:nvPr/>
        </p:nvSpPr>
        <p:spPr>
          <a:xfrm>
            <a:off x="822960" y="5440680"/>
            <a:ext cx="10561320" cy="960120"/>
          </a:xfrm>
          <a:prstGeom prst="roundRect">
            <a:avLst>
              <a:gd name="adj" fmla="val 11429"/>
            </a:avLst>
          </a:prstGeom>
          <a:solidFill>
            <a:srgbClr val="1A1206"/>
          </a:solidFill>
          <a:ln w="12700">
            <a:solidFill>
              <a:srgbClr val="6B5410"/>
            </a:solidFill>
            <a:prstDash val="solid"/>
          </a:ln>
        </p:spPr>
      </p:sp>
      <p:sp>
        <p:nvSpPr>
          <p:cNvPr id="20" name="Text 18"/>
          <p:cNvSpPr txBox="1"/>
          <p:nvPr/>
        </p:nvSpPr>
        <p:spPr>
          <a:xfrm>
            <a:off x="1188720" y="5669280"/>
            <a:ext cx="9829800" cy="548640"/>
          </a:xfrm>
          <a:prstGeom prst="rect">
            <a:avLst/>
          </a:prstGeom>
          <a:noFill/>
          <a:ln/>
        </p:spPr>
        <p:txBody>
          <a:bodyPr wrap="square" lIns="0" tIns="0" rIns="0" bIns="0" rtlCol="0" anchor="ctr"/>
          <a:lstStyle/>
          <a:p>
            <a:pPr indent="0" marL="0">
              <a:lnSpc>
                <a:spcPts val="2200"/>
              </a:lnSpc>
              <a:buNone/>
            </a:pPr>
            <a:r>
              <a:rPr lang="en-US" sz="1600" b="1" dirty="0">
                <a:solidFill>
                  <a:srgbClr val="FFD400"/>
                </a:solidFill>
                <a:latin typeface="Arial" pitchFamily="34" charset="0"/>
                <a:ea typeface="Arial" pitchFamily="34" charset="-122"/>
                <a:cs typeface="Arial" pitchFamily="34" charset="-120"/>
              </a:rPr>
              <a:t>And the thing I actually want: time with blind and low-vision users. Every decision about what this says and when is currently my guess.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2026-08-28T18:02:39Z</dcterms:created>
  <dcterms:modified xsi:type="dcterms:W3CDTF">2026-08-28T18:02:39Z</dcterms:modified>
</cp:coreProperties>
</file>